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</p:sldMasterIdLst>
  <p:notesMasterIdLst>
    <p:notesMasterId r:id="rId14"/>
  </p:notesMasterIdLst>
  <p:sldIdLst>
    <p:sldId id="256" r:id="rId2"/>
    <p:sldId id="257" r:id="rId3"/>
    <p:sldId id="300" r:id="rId4"/>
    <p:sldId id="301" r:id="rId5"/>
    <p:sldId id="302" r:id="rId6"/>
    <p:sldId id="258" r:id="rId7"/>
    <p:sldId id="303" r:id="rId8"/>
    <p:sldId id="304" r:id="rId9"/>
    <p:sldId id="305" r:id="rId10"/>
    <p:sldId id="307" r:id="rId11"/>
    <p:sldId id="266" r:id="rId12"/>
    <p:sldId id="306" r:id="rId13"/>
  </p:sldIdLst>
  <p:sldSz cx="9144000" cy="6858000" type="screen4x3"/>
  <p:notesSz cx="6646863" cy="9777413"/>
  <p:defaultTextStyle>
    <a:defPPr marR="0" algn="l" rtl="0">
      <a:lnSpc>
        <a:spcPct val="100000"/>
      </a:lnSpc>
      <a:spcBef>
        <a:spcPts val="0"/>
      </a:spcBef>
      <a:spcAft>
        <a:spcPts val="0"/>
      </a:spcAft>
    </a:defPPr>
    <a:lvl1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arry.westenberg" initials="lw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2EFF8"/>
    <a:srgbClr val="FFFFFF"/>
    <a:srgbClr val="FFFF53"/>
    <a:srgbClr val="66FFCC"/>
    <a:srgbClr val="CCFFCC"/>
    <a:srgbClr val="99FF66"/>
    <a:srgbClr val="FFDA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881312" cy="4889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l" rtl="0">
              <a:defRPr sz="1200" b="0" i="0" u="none" strike="noStrike" cap="none"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3" name="Shape 3"/>
          <p:cNvSpPr txBox="1">
            <a:spLocks noGrp="1"/>
          </p:cNvSpPr>
          <p:nvPr>
            <p:ph type="dt" idx="10"/>
          </p:nvPr>
        </p:nvSpPr>
        <p:spPr>
          <a:xfrm>
            <a:off x="3765550" y="0"/>
            <a:ext cx="2881312" cy="4889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r" rtl="0">
              <a:defRPr sz="1200" b="0" i="0" u="none" strike="noStrike" cap="none"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4" name="Shape 4"/>
          <p:cNvSpPr>
            <a:spLocks noGrp="1" noRot="1" noChangeAspect="1"/>
          </p:cNvSpPr>
          <p:nvPr>
            <p:ph type="sldImg" idx="3"/>
          </p:nvPr>
        </p:nvSpPr>
        <p:spPr>
          <a:xfrm>
            <a:off x="881062" y="733425"/>
            <a:ext cx="4886325" cy="366553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rnd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" name="Shape 5"/>
          <p:cNvSpPr txBox="1">
            <a:spLocks noGrp="1"/>
          </p:cNvSpPr>
          <p:nvPr>
            <p:ph type="body" idx="1"/>
          </p:nvPr>
        </p:nvSpPr>
        <p:spPr>
          <a:xfrm>
            <a:off x="887412" y="4643437"/>
            <a:ext cx="4872037" cy="44005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6" name="Shape 6"/>
          <p:cNvSpPr txBox="1">
            <a:spLocks noGrp="1"/>
          </p:cNvSpPr>
          <p:nvPr>
            <p:ph type="ftr" idx="11"/>
          </p:nvPr>
        </p:nvSpPr>
        <p:spPr>
          <a:xfrm>
            <a:off x="0" y="9288461"/>
            <a:ext cx="2881312" cy="4889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l" rtl="0">
              <a:defRPr sz="1200" b="0" i="0" u="none" strike="noStrike" cap="none"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sldNum" idx="12"/>
          </p:nvPr>
        </p:nvSpPr>
        <p:spPr>
          <a:xfrm>
            <a:off x="3765550" y="9288461"/>
            <a:ext cx="2881312" cy="4889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r" rtl="0">
              <a:defRPr sz="1200" b="0" i="0" u="none" strike="noStrike" cap="none"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>
            <a:spLocks noGrp="1" noRot="1" noChangeAspect="1"/>
          </p:cNvSpPr>
          <p:nvPr>
            <p:ph type="sldImg" idx="2"/>
          </p:nvPr>
        </p:nvSpPr>
        <p:spPr>
          <a:xfrm>
            <a:off x="881063" y="733425"/>
            <a:ext cx="4886325" cy="36655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" name="Shape 48"/>
          <p:cNvSpPr txBox="1">
            <a:spLocks noGrp="1"/>
          </p:cNvSpPr>
          <p:nvPr>
            <p:ph type="body" idx="1"/>
          </p:nvPr>
        </p:nvSpPr>
        <p:spPr>
          <a:xfrm>
            <a:off x="887412" y="4643437"/>
            <a:ext cx="4872037" cy="44005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l" rtl="0">
              <a:buSzPct val="25000"/>
              <a:buFont typeface="Arial"/>
              <a:buNone/>
            </a:pPr>
            <a:endParaRPr lang="en" sz="1800" b="0" i="0" u="none" strike="noStrike" cap="none" baseline="0" dirty="0"/>
          </a:p>
        </p:txBody>
      </p:sp>
      <p:sp>
        <p:nvSpPr>
          <p:cNvPr id="49" name="Shape 49"/>
          <p:cNvSpPr txBox="1">
            <a:spLocks noGrp="1"/>
          </p:cNvSpPr>
          <p:nvPr>
            <p:ph type="sldNum" idx="12"/>
          </p:nvPr>
        </p:nvSpPr>
        <p:spPr>
          <a:xfrm>
            <a:off x="3765550" y="9288461"/>
            <a:ext cx="2881312" cy="488949"/>
          </a:xfrm>
          <a:prstGeom prst="rect">
            <a:avLst/>
          </a:prstGeom>
          <a:noFill/>
          <a:ln>
            <a:noFill/>
          </a:ln>
        </p:spPr>
        <p:txBody>
          <a:bodyPr lIns="90125" tIns="45050" rIns="90125" bIns="45050" anchor="b" anchorCtr="0">
            <a:spAutoFit/>
          </a:bodyPr>
          <a:lstStyle/>
          <a:p>
            <a:pPr>
              <a:buNone/>
            </a:pPr>
            <a:r>
              <a:rPr lang="en"/>
              <a:t> 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>
            <a:spLocks noGrp="1" noRot="1" noChangeAspect="1"/>
          </p:cNvSpPr>
          <p:nvPr>
            <p:ph type="sldImg" idx="2"/>
          </p:nvPr>
        </p:nvSpPr>
        <p:spPr>
          <a:xfrm>
            <a:off x="881063" y="733425"/>
            <a:ext cx="4886325" cy="36655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Shape 55"/>
          <p:cNvSpPr txBox="1">
            <a:spLocks noGrp="1"/>
          </p:cNvSpPr>
          <p:nvPr>
            <p:ph type="body" idx="1"/>
          </p:nvPr>
        </p:nvSpPr>
        <p:spPr>
          <a:xfrm>
            <a:off x="887412" y="4643437"/>
            <a:ext cx="4872037" cy="44005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l" rtl="0">
              <a:buSzPct val="25000"/>
              <a:buFont typeface="Arial"/>
              <a:buNone/>
            </a:pPr>
            <a:r>
              <a:rPr lang="en" sz="1800" b="0" i="0" u="none" strike="noStrike" cap="none" baseline="0"/>
              <a:t>목차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생성배경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자바를 사용하는 이유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과거, 현재, 미래의 자바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발전과정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버전별 JDK에 대한 설명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자바와 C++의 차이점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성능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 관련 산업(?)의 경향</a:t>
            </a:r>
          </a:p>
        </p:txBody>
      </p:sp>
      <p:sp>
        <p:nvSpPr>
          <p:cNvPr id="56" name="Shape 56"/>
          <p:cNvSpPr txBox="1">
            <a:spLocks noGrp="1"/>
          </p:cNvSpPr>
          <p:nvPr>
            <p:ph type="sldNum" idx="12"/>
          </p:nvPr>
        </p:nvSpPr>
        <p:spPr>
          <a:xfrm>
            <a:off x="3765550" y="9288461"/>
            <a:ext cx="2881312" cy="488949"/>
          </a:xfrm>
          <a:prstGeom prst="rect">
            <a:avLst/>
          </a:prstGeom>
          <a:noFill/>
          <a:ln>
            <a:noFill/>
          </a:ln>
        </p:spPr>
        <p:txBody>
          <a:bodyPr lIns="90125" tIns="45050" rIns="90125" bIns="45050" anchor="b" anchorCtr="0">
            <a:spAutoFit/>
          </a:bodyPr>
          <a:lstStyle/>
          <a:p>
            <a:pPr>
              <a:buNone/>
            </a:pPr>
            <a:r>
              <a:rPr lang="en"/>
              <a:t> 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>
            <a:spLocks noGrp="1" noRot="1" noChangeAspect="1"/>
          </p:cNvSpPr>
          <p:nvPr>
            <p:ph type="sldImg" idx="2"/>
          </p:nvPr>
        </p:nvSpPr>
        <p:spPr>
          <a:xfrm>
            <a:off x="881063" y="733425"/>
            <a:ext cx="4886325" cy="36655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Shape 55"/>
          <p:cNvSpPr txBox="1">
            <a:spLocks noGrp="1"/>
          </p:cNvSpPr>
          <p:nvPr>
            <p:ph type="body" idx="1"/>
          </p:nvPr>
        </p:nvSpPr>
        <p:spPr>
          <a:xfrm>
            <a:off x="887412" y="4643437"/>
            <a:ext cx="4872037" cy="44005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l" rtl="0">
              <a:buSzPct val="25000"/>
              <a:buFont typeface="Arial"/>
              <a:buNone/>
            </a:pPr>
            <a:r>
              <a:rPr lang="en" sz="1800" b="0" i="0" u="none" strike="noStrike" cap="none" baseline="0"/>
              <a:t>목차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생성배경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자바를 사용하는 이유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과거, 현재, 미래의 자바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발전과정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버전별 JDK에 대한 설명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자바와 C++의 차이점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성능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 관련 산업(?)의 경향</a:t>
            </a:r>
          </a:p>
        </p:txBody>
      </p:sp>
      <p:sp>
        <p:nvSpPr>
          <p:cNvPr id="56" name="Shape 56"/>
          <p:cNvSpPr txBox="1">
            <a:spLocks noGrp="1"/>
          </p:cNvSpPr>
          <p:nvPr>
            <p:ph type="sldNum" idx="12"/>
          </p:nvPr>
        </p:nvSpPr>
        <p:spPr>
          <a:xfrm>
            <a:off x="3765550" y="9288461"/>
            <a:ext cx="2881312" cy="488949"/>
          </a:xfrm>
          <a:prstGeom prst="rect">
            <a:avLst/>
          </a:prstGeom>
          <a:noFill/>
          <a:ln>
            <a:noFill/>
          </a:ln>
        </p:spPr>
        <p:txBody>
          <a:bodyPr lIns="90125" tIns="45050" rIns="90125" bIns="45050" anchor="b" anchorCtr="0">
            <a:spAutoFit/>
          </a:bodyPr>
          <a:lstStyle/>
          <a:p>
            <a:pPr>
              <a:buNone/>
            </a:pPr>
            <a:r>
              <a:rPr lang="en"/>
              <a:t> 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>
            <a:spLocks noGrp="1" noRot="1" noChangeAspect="1"/>
          </p:cNvSpPr>
          <p:nvPr>
            <p:ph type="sldImg" idx="2"/>
          </p:nvPr>
        </p:nvSpPr>
        <p:spPr>
          <a:xfrm>
            <a:off x="881063" y="733425"/>
            <a:ext cx="4886325" cy="36655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Shape 55"/>
          <p:cNvSpPr txBox="1">
            <a:spLocks noGrp="1"/>
          </p:cNvSpPr>
          <p:nvPr>
            <p:ph type="body" idx="1"/>
          </p:nvPr>
        </p:nvSpPr>
        <p:spPr>
          <a:xfrm>
            <a:off x="887412" y="4643437"/>
            <a:ext cx="4872037" cy="44005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l" rtl="0">
              <a:buSzPct val="25000"/>
              <a:buFont typeface="Arial"/>
              <a:buNone/>
            </a:pPr>
            <a:r>
              <a:rPr lang="en" sz="1800" b="0" i="0" u="none" strike="noStrike" cap="none" baseline="0"/>
              <a:t>목차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생성배경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자바를 사용하는 이유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과거, 현재, 미래의 자바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발전과정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버전별 JDK에 대한 설명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자바와 C++의 차이점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성능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 관련 산업(?)의 경향</a:t>
            </a:r>
          </a:p>
        </p:txBody>
      </p:sp>
      <p:sp>
        <p:nvSpPr>
          <p:cNvPr id="56" name="Shape 56"/>
          <p:cNvSpPr txBox="1">
            <a:spLocks noGrp="1"/>
          </p:cNvSpPr>
          <p:nvPr>
            <p:ph type="sldNum" idx="12"/>
          </p:nvPr>
        </p:nvSpPr>
        <p:spPr>
          <a:xfrm>
            <a:off x="3765550" y="9288461"/>
            <a:ext cx="2881312" cy="488949"/>
          </a:xfrm>
          <a:prstGeom prst="rect">
            <a:avLst/>
          </a:prstGeom>
          <a:noFill/>
          <a:ln>
            <a:noFill/>
          </a:ln>
        </p:spPr>
        <p:txBody>
          <a:bodyPr lIns="90125" tIns="45050" rIns="90125" bIns="45050" anchor="b" anchorCtr="0">
            <a:spAutoFit/>
          </a:bodyPr>
          <a:lstStyle/>
          <a:p>
            <a:pPr>
              <a:buNone/>
            </a:pPr>
            <a:r>
              <a:rPr lang="en"/>
              <a:t> 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>
            <a:spLocks noGrp="1" noRot="1" noChangeAspect="1"/>
          </p:cNvSpPr>
          <p:nvPr>
            <p:ph type="sldImg" idx="2"/>
          </p:nvPr>
        </p:nvSpPr>
        <p:spPr>
          <a:xfrm>
            <a:off x="881063" y="733425"/>
            <a:ext cx="4886325" cy="36655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Shape 55"/>
          <p:cNvSpPr txBox="1">
            <a:spLocks noGrp="1"/>
          </p:cNvSpPr>
          <p:nvPr>
            <p:ph type="body" idx="1"/>
          </p:nvPr>
        </p:nvSpPr>
        <p:spPr>
          <a:xfrm>
            <a:off x="887412" y="4643437"/>
            <a:ext cx="4872037" cy="44005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l" rtl="0">
              <a:buSzPct val="25000"/>
              <a:buFont typeface="Arial"/>
              <a:buNone/>
            </a:pPr>
            <a:r>
              <a:rPr lang="en" sz="1800" b="0" i="0" u="none" strike="noStrike" cap="none" baseline="0"/>
              <a:t>목차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생성배경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자바를 사용하는 이유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과거, 현재, 미래의 자바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발전과정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버전별 JDK에 대한 설명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자바와 C++의 차이점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성능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 관련 산업(?)의 경향</a:t>
            </a:r>
          </a:p>
        </p:txBody>
      </p:sp>
      <p:sp>
        <p:nvSpPr>
          <p:cNvPr id="56" name="Shape 56"/>
          <p:cNvSpPr txBox="1">
            <a:spLocks noGrp="1"/>
          </p:cNvSpPr>
          <p:nvPr>
            <p:ph type="sldNum" idx="12"/>
          </p:nvPr>
        </p:nvSpPr>
        <p:spPr>
          <a:xfrm>
            <a:off x="3765550" y="9288461"/>
            <a:ext cx="2881312" cy="488949"/>
          </a:xfrm>
          <a:prstGeom prst="rect">
            <a:avLst/>
          </a:prstGeom>
          <a:noFill/>
          <a:ln>
            <a:noFill/>
          </a:ln>
        </p:spPr>
        <p:txBody>
          <a:bodyPr lIns="90125" tIns="45050" rIns="90125" bIns="45050" anchor="b" anchorCtr="0">
            <a:spAutoFit/>
          </a:bodyPr>
          <a:lstStyle/>
          <a:p>
            <a:pPr>
              <a:buNone/>
            </a:pPr>
            <a:r>
              <a:rPr lang="en"/>
              <a:t> 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>
            <a:spLocks noGrp="1" noRot="1" noChangeAspect="1"/>
          </p:cNvSpPr>
          <p:nvPr>
            <p:ph type="sldImg" idx="2"/>
          </p:nvPr>
        </p:nvSpPr>
        <p:spPr>
          <a:xfrm>
            <a:off x="881063" y="733425"/>
            <a:ext cx="4886325" cy="36655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Shape 55"/>
          <p:cNvSpPr txBox="1">
            <a:spLocks noGrp="1"/>
          </p:cNvSpPr>
          <p:nvPr>
            <p:ph type="body" idx="1"/>
          </p:nvPr>
        </p:nvSpPr>
        <p:spPr>
          <a:xfrm>
            <a:off x="887412" y="4643437"/>
            <a:ext cx="4872037" cy="44005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l" rtl="0">
              <a:buSzPct val="25000"/>
              <a:buFont typeface="Arial"/>
              <a:buNone/>
            </a:pPr>
            <a:r>
              <a:rPr lang="en" sz="1800" b="0" i="0" u="none" strike="noStrike" cap="none" baseline="0"/>
              <a:t>목차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생성배경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자바를 사용하는 이유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과거, 현재, 미래의 자바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발전과정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버전별 JDK에 대한 설명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자바와 C++의 차이점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성능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 관련 산업(?)의 경향</a:t>
            </a:r>
          </a:p>
        </p:txBody>
      </p:sp>
      <p:sp>
        <p:nvSpPr>
          <p:cNvPr id="56" name="Shape 56"/>
          <p:cNvSpPr txBox="1">
            <a:spLocks noGrp="1"/>
          </p:cNvSpPr>
          <p:nvPr>
            <p:ph type="sldNum" idx="12"/>
          </p:nvPr>
        </p:nvSpPr>
        <p:spPr>
          <a:xfrm>
            <a:off x="3765550" y="9288461"/>
            <a:ext cx="2881312" cy="488949"/>
          </a:xfrm>
          <a:prstGeom prst="rect">
            <a:avLst/>
          </a:prstGeom>
          <a:noFill/>
          <a:ln>
            <a:noFill/>
          </a:ln>
        </p:spPr>
        <p:txBody>
          <a:bodyPr lIns="90125" tIns="45050" rIns="90125" bIns="45050" anchor="b" anchorCtr="0">
            <a:spAutoFit/>
          </a:bodyPr>
          <a:lstStyle/>
          <a:p>
            <a:pPr>
              <a:buNone/>
            </a:pPr>
            <a:r>
              <a:rPr lang="en"/>
              <a:t> 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>
            <a:spLocks noGrp="1" noRot="1" noChangeAspect="1"/>
          </p:cNvSpPr>
          <p:nvPr>
            <p:ph type="sldImg" idx="2"/>
          </p:nvPr>
        </p:nvSpPr>
        <p:spPr>
          <a:xfrm>
            <a:off x="881063" y="733425"/>
            <a:ext cx="4886325" cy="36655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Shape 55"/>
          <p:cNvSpPr txBox="1">
            <a:spLocks noGrp="1"/>
          </p:cNvSpPr>
          <p:nvPr>
            <p:ph type="body" idx="1"/>
          </p:nvPr>
        </p:nvSpPr>
        <p:spPr>
          <a:xfrm>
            <a:off x="887412" y="4643437"/>
            <a:ext cx="4872037" cy="44005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l" rtl="0">
              <a:buSzPct val="25000"/>
              <a:buFont typeface="Arial"/>
              <a:buNone/>
            </a:pPr>
            <a:r>
              <a:rPr lang="en" sz="1800" b="0" i="0" u="none" strike="noStrike" cap="none" baseline="0"/>
              <a:t>목차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생성배경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자바를 사용하는 이유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과거, 현재, 미래의 자바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발전과정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버전별 JDK에 대한 설명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자바와 C++의 차이점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성능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 관련 산업(?)의 경향</a:t>
            </a:r>
          </a:p>
        </p:txBody>
      </p:sp>
      <p:sp>
        <p:nvSpPr>
          <p:cNvPr id="56" name="Shape 56"/>
          <p:cNvSpPr txBox="1">
            <a:spLocks noGrp="1"/>
          </p:cNvSpPr>
          <p:nvPr>
            <p:ph type="sldNum" idx="12"/>
          </p:nvPr>
        </p:nvSpPr>
        <p:spPr>
          <a:xfrm>
            <a:off x="3765550" y="9288461"/>
            <a:ext cx="2881312" cy="488949"/>
          </a:xfrm>
          <a:prstGeom prst="rect">
            <a:avLst/>
          </a:prstGeom>
          <a:noFill/>
          <a:ln>
            <a:noFill/>
          </a:ln>
        </p:spPr>
        <p:txBody>
          <a:bodyPr lIns="90125" tIns="45050" rIns="90125" bIns="45050" anchor="b" anchorCtr="0">
            <a:spAutoFit/>
          </a:bodyPr>
          <a:lstStyle/>
          <a:p>
            <a:pPr>
              <a:buNone/>
            </a:pPr>
            <a:r>
              <a:rPr lang="en"/>
              <a:t> 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>
            <a:spLocks noGrp="1" noRot="1" noChangeAspect="1"/>
          </p:cNvSpPr>
          <p:nvPr>
            <p:ph type="sldImg" idx="2"/>
          </p:nvPr>
        </p:nvSpPr>
        <p:spPr>
          <a:xfrm>
            <a:off x="881063" y="733425"/>
            <a:ext cx="4886325" cy="36655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Shape 55"/>
          <p:cNvSpPr txBox="1">
            <a:spLocks noGrp="1"/>
          </p:cNvSpPr>
          <p:nvPr>
            <p:ph type="body" idx="1"/>
          </p:nvPr>
        </p:nvSpPr>
        <p:spPr>
          <a:xfrm>
            <a:off x="887412" y="4643437"/>
            <a:ext cx="4872037" cy="44005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l" rtl="0">
              <a:buSzPct val="25000"/>
              <a:buFont typeface="Arial"/>
              <a:buNone/>
            </a:pPr>
            <a:r>
              <a:rPr lang="en" sz="1800" b="0" i="0" u="none" strike="noStrike" cap="none" baseline="0"/>
              <a:t>목차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생성배경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자바를 사용하는 이유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과거, 현재, 미래의 자바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발전과정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버전별 JDK에 대한 설명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자바와 C++의 차이점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성능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 관련 산업(?)의 경향</a:t>
            </a:r>
          </a:p>
        </p:txBody>
      </p:sp>
      <p:sp>
        <p:nvSpPr>
          <p:cNvPr id="56" name="Shape 56"/>
          <p:cNvSpPr txBox="1">
            <a:spLocks noGrp="1"/>
          </p:cNvSpPr>
          <p:nvPr>
            <p:ph type="sldNum" idx="12"/>
          </p:nvPr>
        </p:nvSpPr>
        <p:spPr>
          <a:xfrm>
            <a:off x="3765550" y="9288461"/>
            <a:ext cx="2881312" cy="488949"/>
          </a:xfrm>
          <a:prstGeom prst="rect">
            <a:avLst/>
          </a:prstGeom>
          <a:noFill/>
          <a:ln>
            <a:noFill/>
          </a:ln>
        </p:spPr>
        <p:txBody>
          <a:bodyPr lIns="90125" tIns="45050" rIns="90125" bIns="45050" anchor="b" anchorCtr="0">
            <a:spAutoFit/>
          </a:bodyPr>
          <a:lstStyle/>
          <a:p>
            <a:pPr>
              <a:buNone/>
            </a:pPr>
            <a:r>
              <a:rPr lang="en"/>
              <a:t> 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>
            <a:spLocks noGrp="1" noRot="1" noChangeAspect="1"/>
          </p:cNvSpPr>
          <p:nvPr>
            <p:ph type="sldImg" idx="2"/>
          </p:nvPr>
        </p:nvSpPr>
        <p:spPr>
          <a:xfrm>
            <a:off x="881063" y="733425"/>
            <a:ext cx="4886325" cy="36655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Shape 55"/>
          <p:cNvSpPr txBox="1">
            <a:spLocks noGrp="1"/>
          </p:cNvSpPr>
          <p:nvPr>
            <p:ph type="body" idx="1"/>
          </p:nvPr>
        </p:nvSpPr>
        <p:spPr>
          <a:xfrm>
            <a:off x="887412" y="4643437"/>
            <a:ext cx="4872037" cy="44005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l" rtl="0">
              <a:buSzPct val="25000"/>
              <a:buFont typeface="Arial"/>
              <a:buNone/>
            </a:pPr>
            <a:r>
              <a:rPr lang="en" sz="1800" b="0" i="0" u="none" strike="noStrike" cap="none" baseline="0"/>
              <a:t>목차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생성배경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자바를 사용하는 이유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과거, 현재, 미래의 자바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발전과정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버전별 JDK에 대한 설명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자바와 C++의 차이점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성능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 관련 산업(?)의 경향</a:t>
            </a:r>
          </a:p>
        </p:txBody>
      </p:sp>
      <p:sp>
        <p:nvSpPr>
          <p:cNvPr id="56" name="Shape 56"/>
          <p:cNvSpPr txBox="1">
            <a:spLocks noGrp="1"/>
          </p:cNvSpPr>
          <p:nvPr>
            <p:ph type="sldNum" idx="12"/>
          </p:nvPr>
        </p:nvSpPr>
        <p:spPr>
          <a:xfrm>
            <a:off x="3765550" y="9288461"/>
            <a:ext cx="2881312" cy="488949"/>
          </a:xfrm>
          <a:prstGeom prst="rect">
            <a:avLst/>
          </a:prstGeom>
          <a:noFill/>
          <a:ln>
            <a:noFill/>
          </a:ln>
        </p:spPr>
        <p:txBody>
          <a:bodyPr lIns="90125" tIns="45050" rIns="90125" bIns="45050" anchor="b" anchorCtr="0">
            <a:spAutoFit/>
          </a:bodyPr>
          <a:lstStyle/>
          <a:p>
            <a:pPr>
              <a:buNone/>
            </a:pPr>
            <a:r>
              <a:rPr lang="en"/>
              <a:t> 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>
            <a:spLocks noGrp="1" noRot="1" noChangeAspect="1"/>
          </p:cNvSpPr>
          <p:nvPr>
            <p:ph type="sldImg" idx="2"/>
          </p:nvPr>
        </p:nvSpPr>
        <p:spPr>
          <a:xfrm>
            <a:off x="881063" y="733425"/>
            <a:ext cx="4886325" cy="36655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Shape 55"/>
          <p:cNvSpPr txBox="1">
            <a:spLocks noGrp="1"/>
          </p:cNvSpPr>
          <p:nvPr>
            <p:ph type="body" idx="1"/>
          </p:nvPr>
        </p:nvSpPr>
        <p:spPr>
          <a:xfrm>
            <a:off x="887412" y="4643437"/>
            <a:ext cx="4872037" cy="44005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l" rtl="0">
              <a:buSzPct val="25000"/>
              <a:buFont typeface="Arial"/>
              <a:buNone/>
            </a:pPr>
            <a:r>
              <a:rPr lang="en" sz="1800" b="0" i="0" u="none" strike="noStrike" cap="none" baseline="0"/>
              <a:t>목차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생성배경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자바를 사용하는 이유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과거, 현재, 미래의 자바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발전과정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버전별 JDK에 대한 설명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자바와 C++의 차이점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성능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 관련 산업(?)의 경향</a:t>
            </a:r>
          </a:p>
        </p:txBody>
      </p:sp>
      <p:sp>
        <p:nvSpPr>
          <p:cNvPr id="56" name="Shape 56"/>
          <p:cNvSpPr txBox="1">
            <a:spLocks noGrp="1"/>
          </p:cNvSpPr>
          <p:nvPr>
            <p:ph type="sldNum" idx="12"/>
          </p:nvPr>
        </p:nvSpPr>
        <p:spPr>
          <a:xfrm>
            <a:off x="3765550" y="9288461"/>
            <a:ext cx="2881312" cy="488949"/>
          </a:xfrm>
          <a:prstGeom prst="rect">
            <a:avLst/>
          </a:prstGeom>
          <a:noFill/>
          <a:ln>
            <a:noFill/>
          </a:ln>
        </p:spPr>
        <p:txBody>
          <a:bodyPr lIns="90125" tIns="45050" rIns="90125" bIns="45050" anchor="b" anchorCtr="0">
            <a:spAutoFit/>
          </a:bodyPr>
          <a:lstStyle/>
          <a:p>
            <a:pPr>
              <a:buNone/>
            </a:pPr>
            <a:r>
              <a:rPr lang="en"/>
              <a:t> 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>
            <a:spLocks noGrp="1" noRot="1" noChangeAspect="1"/>
          </p:cNvSpPr>
          <p:nvPr>
            <p:ph type="sldImg" idx="2"/>
          </p:nvPr>
        </p:nvSpPr>
        <p:spPr>
          <a:xfrm>
            <a:off x="881063" y="733425"/>
            <a:ext cx="4886325" cy="366553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Shape 55"/>
          <p:cNvSpPr txBox="1">
            <a:spLocks noGrp="1"/>
          </p:cNvSpPr>
          <p:nvPr>
            <p:ph type="body" idx="1"/>
          </p:nvPr>
        </p:nvSpPr>
        <p:spPr>
          <a:xfrm>
            <a:off x="887412" y="4643437"/>
            <a:ext cx="4872037" cy="44005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l" rtl="0">
              <a:buSzPct val="25000"/>
              <a:buFont typeface="Arial"/>
              <a:buNone/>
            </a:pPr>
            <a:r>
              <a:rPr lang="en" sz="1800" b="0" i="0" u="none" strike="noStrike" cap="none" baseline="0"/>
              <a:t>목차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생성배경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자바를 사용하는 이유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과거, 현재, 미래의 자바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발전과정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버전별 JDK에 대한 설명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자바와 C++의 차이점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자바의 성능</a:t>
            </a:r>
          </a:p>
          <a:p>
            <a:pPr marL="0" marR="0" lvl="0" indent="0" algn="l" rtl="0">
              <a:buClr>
                <a:srgbClr val="000000"/>
              </a:buClr>
              <a:buSzPct val="25000"/>
              <a:buFont typeface="Arial"/>
              <a:buNone/>
            </a:pPr>
            <a:r>
              <a:rPr lang="en" sz="1800" b="0" i="0" u="none" strike="noStrike" cap="none" baseline="0"/>
              <a:t>자바 관련 산업(?)의 경향</a:t>
            </a:r>
          </a:p>
        </p:txBody>
      </p:sp>
      <p:sp>
        <p:nvSpPr>
          <p:cNvPr id="56" name="Shape 56"/>
          <p:cNvSpPr txBox="1">
            <a:spLocks noGrp="1"/>
          </p:cNvSpPr>
          <p:nvPr>
            <p:ph type="sldNum" idx="12"/>
          </p:nvPr>
        </p:nvSpPr>
        <p:spPr>
          <a:xfrm>
            <a:off x="3765550" y="9288461"/>
            <a:ext cx="2881312" cy="488949"/>
          </a:xfrm>
          <a:prstGeom prst="rect">
            <a:avLst/>
          </a:prstGeom>
          <a:noFill/>
          <a:ln>
            <a:noFill/>
          </a:ln>
        </p:spPr>
        <p:txBody>
          <a:bodyPr lIns="90125" tIns="45050" rIns="90125" bIns="45050" anchor="b" anchorCtr="0">
            <a:spAutoFit/>
          </a:bodyPr>
          <a:lstStyle/>
          <a:p>
            <a:pPr>
              <a:buNone/>
            </a:pPr>
            <a:r>
              <a:rPr lang="en"/>
              <a:t> 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chemeClr val="lt2"/>
            </a:gs>
            <a:gs pos="50000">
              <a:schemeClr val="lt1"/>
            </a:gs>
            <a:gs pos="50000">
              <a:schemeClr val="lt1"/>
            </a:gs>
            <a:gs pos="100000">
              <a:schemeClr val="lt2"/>
            </a:gs>
          </a:gsLst>
          <a:lin ang="10800000" scaled="0"/>
        </a:gra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 txBox="1">
            <a:spLocks noGrp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5" name="Shape 2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799" cy="1752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1206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742950" marR="0" indent="-1778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Font typeface="Arial"/>
              <a:buChar char="•"/>
              <a:defRPr sz="2800" b="0" i="0" u="none" strike="noStrike" cap="none" baseline="0"/>
            </a:lvl2pPr>
            <a:lvl3pPr marL="1143000" marR="0" indent="-136525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Font typeface="Arial"/>
              <a:buChar char="•"/>
              <a:defRPr sz="2400" b="0" i="0" u="none" strike="noStrike" cap="none" baseline="0"/>
            </a:lvl3pPr>
            <a:lvl4pPr marL="1600200" marR="0" indent="-1524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/>
              <a:buChar char="•"/>
              <a:defRPr sz="2000" b="0" i="0" u="none" strike="noStrike" cap="none" baseline="0"/>
            </a:lvl4pPr>
            <a:lvl5pPr marL="2057400" marR="0" indent="-1524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/>
              <a:buChar char="•"/>
              <a:defRPr sz="2000" b="0" i="0" u="none" strike="noStrike" cap="none" baseline="0"/>
            </a:lvl5pPr>
            <a:lvl6pPr marL="2514600" marR="0" indent="-1079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971800" marR="0" indent="-1079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429000" marR="0" indent="-1079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3886200" marR="0" indent="-1079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title" idx="2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l" rtl="0">
              <a:defRPr sz="1400" b="0" i="0" u="none" strike="noStrike" cap="none"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ctr" rtl="0">
              <a:defRPr sz="1400" b="0" i="0" u="none" strike="noStrike" cap="none"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en-US"/>
              <a:t>Ravi Kant Sahu, Asst. Professor @ LPU Phagwara (Punjab) India</a:t>
            </a:r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r" rtl="0">
              <a:defRPr sz="1400" b="0" i="0" u="none" strike="noStrike" cap="none"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3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742950" indent="-177800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Font typeface="Arial"/>
              <a:buChar char="•"/>
              <a:defRPr sz="2800"/>
            </a:lvl2pPr>
            <a:lvl3pPr marL="1143000" indent="-136525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Font typeface="Arial"/>
              <a:buChar char="•"/>
              <a:defRPr sz="2400"/>
            </a:lvl3pPr>
            <a:lvl4pPr marL="1600200" indent="-1524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/>
              <a:buChar char="•"/>
              <a:defRPr sz="2000"/>
            </a:lvl4pPr>
            <a:lvl5pPr marL="2057400" indent="-1524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/>
              <a:buChar char="•"/>
              <a:defRPr sz="2000"/>
            </a:lvl5pPr>
            <a:lvl6pPr marL="2514600" indent="-10795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971800" indent="-10795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429000" indent="-10795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3886200" indent="-10795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x" type="tx">
  <p:cSld name="tx">
    <p:bg>
      <p:bgPr>
        <a:gradFill>
          <a:gsLst>
            <a:gs pos="0">
              <a:schemeClr val="lt2"/>
            </a:gs>
            <a:gs pos="50000">
              <a:schemeClr val="lt1"/>
            </a:gs>
            <a:gs pos="50000">
              <a:schemeClr val="lt1"/>
            </a:gs>
            <a:gs pos="100000">
              <a:schemeClr val="lt2"/>
            </a:gs>
          </a:gsLst>
          <a:lin ang="10800000" scaled="0"/>
        </a:gra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 txBox="1">
            <a:spLocks noGrp="1"/>
          </p:cNvSpPr>
          <p:nvPr>
            <p:ph type="title"/>
          </p:nvPr>
        </p:nvSpPr>
        <p:spPr>
          <a:xfrm>
            <a:off x="7620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1"/>
          </p:nvPr>
        </p:nvSpPr>
        <p:spPr>
          <a:xfrm>
            <a:off x="762000" y="1600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742950" indent="-177800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Font typeface="Arial"/>
              <a:buChar char="•"/>
              <a:defRPr sz="2800"/>
            </a:lvl2pPr>
            <a:lvl3pPr marL="1143000" indent="-136525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Font typeface="Arial"/>
              <a:buChar char="•"/>
              <a:defRPr sz="2400"/>
            </a:lvl3pPr>
            <a:lvl4pPr marL="1600200" indent="-1524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/>
              <a:buChar char="•"/>
              <a:defRPr sz="2000"/>
            </a:lvl4pPr>
            <a:lvl5pPr marL="2057400" indent="-1524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/>
              <a:buChar char="•"/>
              <a:defRPr sz="2000"/>
            </a:lvl5pPr>
            <a:lvl6pPr marL="2514600" indent="-10795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971800" indent="-10795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429000" indent="-10795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3886200" indent="-10795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l" rtl="0">
              <a:defRPr sz="1400" b="0" i="0" u="none" strike="noStrike" cap="none"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ctr" rtl="0">
              <a:defRPr sz="1400" b="0" i="0" u="none" strike="noStrike" cap="none"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en-US"/>
              <a:t>Ravi Kant Sahu, Asst. Professor @ LPU Phagwara (Punjab) India</a:t>
            </a:r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r" rtl="0">
              <a:defRPr sz="1400" b="0" i="0" u="none" strike="noStrike" cap="none"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AB0503-4E0C-42D7-842F-D72E5512277D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2"/>
            </a:gs>
            <a:gs pos="50000">
              <a:schemeClr val="lt1"/>
            </a:gs>
            <a:gs pos="50000">
              <a:schemeClr val="lt1"/>
            </a:gs>
            <a:gs pos="100000">
              <a:schemeClr val="lt2"/>
            </a:gs>
          </a:gsLst>
          <a:lin ang="10800000" scaled="0"/>
        </a:gra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Shape 9"/>
          <p:cNvGrpSpPr/>
          <p:nvPr/>
        </p:nvGrpSpPr>
        <p:grpSpPr>
          <a:xfrm>
            <a:off x="0" y="0"/>
            <a:ext cx="9144000" cy="6918325"/>
            <a:chOff x="0" y="0"/>
            <a:chExt cx="9144000" cy="6918325"/>
          </a:xfrm>
        </p:grpSpPr>
        <p:sp>
          <p:nvSpPr>
            <p:cNvPr id="10" name="Shape 10"/>
            <p:cNvSpPr/>
            <p:nvPr/>
          </p:nvSpPr>
          <p:spPr>
            <a:xfrm>
              <a:off x="8783636" y="444500"/>
              <a:ext cx="360362" cy="315277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50000">
                  <a:schemeClr val="hlink"/>
                </a:gs>
                <a:gs pos="50000">
                  <a:schemeClr val="hlink"/>
                </a:gs>
                <a:gs pos="100000">
                  <a:schemeClr val="lt2"/>
                </a:gs>
              </a:gsLst>
              <a:lin ang="10800000" scaled="0"/>
            </a:gradFill>
            <a:ln>
              <a:noFill/>
            </a:ln>
          </p:spPr>
          <p:txBody>
            <a:bodyPr lIns="91425" tIns="45700" rIns="91425" bIns="45700" anchor="ctr" anchorCtr="0">
              <a:spAutoFit/>
            </a:bodyPr>
            <a:lstStyle/>
            <a:p>
              <a:endParaRPr/>
            </a:p>
          </p:txBody>
        </p:sp>
        <p:sp>
          <p:nvSpPr>
            <p:cNvPr id="11" name="Shape 11"/>
            <p:cNvSpPr/>
            <p:nvPr/>
          </p:nvSpPr>
          <p:spPr>
            <a:xfrm>
              <a:off x="0" y="0"/>
              <a:ext cx="9144000" cy="2133599"/>
            </a:xfrm>
            <a:custGeom>
              <a:avLst/>
              <a:gdLst/>
              <a:ahLst/>
              <a:cxnLst/>
              <a:rect l="0" t="0" r="0" b="0"/>
              <a:pathLst>
                <a:path w="5760" h="1104" extrusionOk="0">
                  <a:moveTo>
                    <a:pt x="0" y="0"/>
                  </a:moveTo>
                  <a:lnTo>
                    <a:pt x="5760" y="0"/>
                  </a:lnTo>
                  <a:lnTo>
                    <a:pt x="5760" y="720"/>
                  </a:lnTo>
                  <a:cubicBezTo>
                    <a:pt x="5400" y="824"/>
                    <a:pt x="4560" y="577"/>
                    <a:pt x="3600" y="624"/>
                  </a:cubicBezTo>
                  <a:cubicBezTo>
                    <a:pt x="2640" y="671"/>
                    <a:pt x="600" y="1104"/>
                    <a:pt x="0" y="1000"/>
                  </a:cubicBez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50000">
                  <a:schemeClr val="lt1"/>
                </a:gs>
                <a:gs pos="50000">
                  <a:schemeClr val="lt1"/>
                </a:gs>
                <a:gs pos="100000">
                  <a:schemeClr val="lt2"/>
                </a:gs>
              </a:gsLst>
              <a:lin ang="10800000" scaled="0"/>
            </a:gradFill>
            <a:ln>
              <a:noFill/>
            </a:ln>
          </p:spPr>
          <p:txBody>
            <a:bodyPr lIns="91425" tIns="45700" rIns="91425" bIns="45700" anchor="ctr" anchorCtr="0">
              <a:spAutoFit/>
            </a:bodyPr>
            <a:lstStyle/>
            <a:p>
              <a:endParaRPr/>
            </a:p>
          </p:txBody>
        </p:sp>
        <p:sp>
          <p:nvSpPr>
            <p:cNvPr id="12" name="Shape 12"/>
            <p:cNvSpPr/>
            <p:nvPr/>
          </p:nvSpPr>
          <p:spPr>
            <a:xfrm>
              <a:off x="0" y="1163637"/>
              <a:ext cx="9144000" cy="5694362"/>
            </a:xfrm>
            <a:custGeom>
              <a:avLst/>
              <a:gdLst/>
              <a:ahLst/>
              <a:cxnLst/>
              <a:rect l="0" t="0" r="0" b="0"/>
              <a:pathLst>
                <a:path w="5760" h="3587" extrusionOk="0">
                  <a:moveTo>
                    <a:pt x="0" y="582"/>
                  </a:moveTo>
                  <a:cubicBezTo>
                    <a:pt x="1027" y="680"/>
                    <a:pt x="1960" y="387"/>
                    <a:pt x="2640" y="267"/>
                  </a:cubicBezTo>
                  <a:cubicBezTo>
                    <a:pt x="2640" y="267"/>
                    <a:pt x="3268" y="180"/>
                    <a:pt x="3373" y="160"/>
                  </a:cubicBezTo>
                  <a:cubicBezTo>
                    <a:pt x="4120" y="0"/>
                    <a:pt x="5280" y="358"/>
                    <a:pt x="5760" y="358"/>
                  </a:cubicBezTo>
                  <a:lnTo>
                    <a:pt x="5760" y="3587"/>
                  </a:lnTo>
                  <a:lnTo>
                    <a:pt x="0" y="3587"/>
                  </a:lnTo>
                  <a:cubicBezTo>
                    <a:pt x="0" y="3587"/>
                    <a:pt x="0" y="582"/>
                    <a:pt x="0" y="582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50000">
                  <a:schemeClr val="lt1"/>
                </a:gs>
                <a:gs pos="50000">
                  <a:schemeClr val="lt1"/>
                </a:gs>
                <a:gs pos="100000">
                  <a:schemeClr val="lt2"/>
                </a:gs>
              </a:gsLst>
              <a:lin ang="10800000" scaled="0"/>
            </a:gradFill>
            <a:ln>
              <a:noFill/>
            </a:ln>
          </p:spPr>
          <p:txBody>
            <a:bodyPr lIns="91425" tIns="45700" rIns="91425" bIns="45700" anchor="ctr" anchorCtr="0">
              <a:spAutoFit/>
            </a:bodyPr>
            <a:lstStyle/>
            <a:p>
              <a:endParaRPr/>
            </a:p>
          </p:txBody>
        </p:sp>
        <p:sp>
          <p:nvSpPr>
            <p:cNvPr id="13" name="Shape 13"/>
            <p:cNvSpPr/>
            <p:nvPr/>
          </p:nvSpPr>
          <p:spPr>
            <a:xfrm>
              <a:off x="0" y="292100"/>
              <a:ext cx="9144000" cy="854075"/>
            </a:xfrm>
            <a:custGeom>
              <a:avLst/>
              <a:gdLst/>
              <a:ahLst/>
              <a:cxnLst/>
              <a:rect l="0" t="0" r="0" b="0"/>
              <a:pathLst>
                <a:path w="5760" h="538" extrusionOk="0">
                  <a:moveTo>
                    <a:pt x="0" y="163"/>
                  </a:moveTo>
                  <a:lnTo>
                    <a:pt x="0" y="403"/>
                  </a:lnTo>
                  <a:cubicBezTo>
                    <a:pt x="295" y="450"/>
                    <a:pt x="1011" y="481"/>
                    <a:pt x="1773" y="443"/>
                  </a:cubicBezTo>
                  <a:cubicBezTo>
                    <a:pt x="2535" y="405"/>
                    <a:pt x="3909" y="161"/>
                    <a:pt x="4573" y="176"/>
                  </a:cubicBezTo>
                  <a:cubicBezTo>
                    <a:pt x="5237" y="191"/>
                    <a:pt x="5562" y="538"/>
                    <a:pt x="5760" y="536"/>
                  </a:cubicBezTo>
                  <a:lnTo>
                    <a:pt x="5760" y="163"/>
                  </a:lnTo>
                  <a:cubicBezTo>
                    <a:pt x="5560" y="79"/>
                    <a:pt x="5189" y="0"/>
                    <a:pt x="4560" y="29"/>
                  </a:cubicBezTo>
                  <a:cubicBezTo>
                    <a:pt x="3931" y="58"/>
                    <a:pt x="2747" y="314"/>
                    <a:pt x="1987" y="336"/>
                  </a:cubicBezTo>
                  <a:cubicBezTo>
                    <a:pt x="1227" y="358"/>
                    <a:pt x="414" y="199"/>
                    <a:pt x="0" y="163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chemeClr val="lt2"/>
                </a:gs>
                <a:gs pos="50000">
                  <a:schemeClr val="lt2"/>
                </a:gs>
                <a:gs pos="100000">
                  <a:schemeClr val="lt1"/>
                </a:gs>
              </a:gsLst>
              <a:lin ang="10800000" scaled="0"/>
            </a:gradFill>
            <a:ln>
              <a:noFill/>
            </a:ln>
          </p:spPr>
          <p:txBody>
            <a:bodyPr lIns="91425" tIns="45700" rIns="91425" bIns="45700" anchor="ctr" anchorCtr="0">
              <a:spAutoFit/>
            </a:bodyPr>
            <a:lstStyle/>
            <a:p>
              <a:endParaRPr/>
            </a:p>
          </p:txBody>
        </p:sp>
        <p:sp>
          <p:nvSpPr>
            <p:cNvPr id="14" name="Shape 14"/>
            <p:cNvSpPr/>
            <p:nvPr/>
          </p:nvSpPr>
          <p:spPr>
            <a:xfrm>
              <a:off x="0" y="2405061"/>
              <a:ext cx="9144000" cy="1069975"/>
            </a:xfrm>
            <a:custGeom>
              <a:avLst/>
              <a:gdLst/>
              <a:ahLst/>
              <a:cxnLst/>
              <a:rect l="0" t="0" r="0" b="0"/>
              <a:pathLst>
                <a:path w="5760" h="674" extrusionOk="0">
                  <a:moveTo>
                    <a:pt x="0" y="246"/>
                  </a:moveTo>
                  <a:lnTo>
                    <a:pt x="0" y="406"/>
                  </a:lnTo>
                  <a:cubicBezTo>
                    <a:pt x="213" y="463"/>
                    <a:pt x="1009" y="616"/>
                    <a:pt x="1280" y="645"/>
                  </a:cubicBezTo>
                  <a:cubicBezTo>
                    <a:pt x="1551" y="674"/>
                    <a:pt x="1092" y="669"/>
                    <a:pt x="1627" y="580"/>
                  </a:cubicBezTo>
                  <a:cubicBezTo>
                    <a:pt x="2162" y="491"/>
                    <a:pt x="3804" y="109"/>
                    <a:pt x="4493" y="113"/>
                  </a:cubicBezTo>
                  <a:cubicBezTo>
                    <a:pt x="5182" y="117"/>
                    <a:pt x="5549" y="586"/>
                    <a:pt x="5760" y="606"/>
                  </a:cubicBezTo>
                  <a:lnTo>
                    <a:pt x="5760" y="233"/>
                  </a:lnTo>
                  <a:cubicBezTo>
                    <a:pt x="5471" y="158"/>
                    <a:pt x="4818" y="0"/>
                    <a:pt x="4040" y="33"/>
                  </a:cubicBezTo>
                  <a:cubicBezTo>
                    <a:pt x="3262" y="66"/>
                    <a:pt x="1766" y="398"/>
                    <a:pt x="1093" y="433"/>
                  </a:cubicBezTo>
                  <a:cubicBezTo>
                    <a:pt x="420" y="468"/>
                    <a:pt x="228" y="285"/>
                    <a:pt x="0" y="246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chemeClr val="accent2"/>
                </a:gs>
                <a:gs pos="50000">
                  <a:schemeClr val="accent2"/>
                </a:gs>
                <a:gs pos="100000">
                  <a:schemeClr val="lt1"/>
                </a:gs>
              </a:gsLst>
              <a:lin ang="10800000" scaled="0"/>
            </a:gradFill>
            <a:ln>
              <a:noFill/>
            </a:ln>
          </p:spPr>
          <p:txBody>
            <a:bodyPr lIns="91425" tIns="45700" rIns="91425" bIns="45700" anchor="ctr" anchorCtr="0">
              <a:spAutoFit/>
            </a:bodyPr>
            <a:lstStyle/>
            <a:p>
              <a:endParaRPr/>
            </a:p>
          </p:txBody>
        </p:sp>
        <p:sp>
          <p:nvSpPr>
            <p:cNvPr id="15" name="Shape 15"/>
            <p:cNvSpPr/>
            <p:nvPr/>
          </p:nvSpPr>
          <p:spPr>
            <a:xfrm>
              <a:off x="2476500" y="1522412"/>
              <a:ext cx="6667500" cy="5335586"/>
            </a:xfrm>
            <a:custGeom>
              <a:avLst/>
              <a:gdLst/>
              <a:ahLst/>
              <a:cxnLst/>
              <a:rect l="0" t="0" r="0" b="0"/>
              <a:pathLst>
                <a:path w="4200" h="3361" extrusionOk="0">
                  <a:moveTo>
                    <a:pt x="0" y="3361"/>
                  </a:moveTo>
                  <a:cubicBezTo>
                    <a:pt x="118" y="2850"/>
                    <a:pt x="354" y="590"/>
                    <a:pt x="1054" y="295"/>
                  </a:cubicBezTo>
                  <a:cubicBezTo>
                    <a:pt x="1754" y="0"/>
                    <a:pt x="3676" y="1299"/>
                    <a:pt x="4200" y="1588"/>
                  </a:cubicBezTo>
                  <a:lnTo>
                    <a:pt x="4200" y="2028"/>
                  </a:lnTo>
                  <a:cubicBezTo>
                    <a:pt x="3700" y="1837"/>
                    <a:pt x="1842" y="220"/>
                    <a:pt x="1200" y="442"/>
                  </a:cubicBezTo>
                  <a:cubicBezTo>
                    <a:pt x="558" y="664"/>
                    <a:pt x="547" y="2875"/>
                    <a:pt x="347" y="3361"/>
                  </a:cubicBezTo>
                  <a:lnTo>
                    <a:pt x="0" y="336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lt1"/>
                </a:gs>
                <a:gs pos="50000">
                  <a:schemeClr val="lt1"/>
                </a:gs>
                <a:gs pos="100000">
                  <a:schemeClr val="accent2"/>
                </a:gs>
              </a:gsLst>
              <a:lin ang="5400000" scaled="0"/>
            </a:gradFill>
            <a:ln>
              <a:noFill/>
            </a:ln>
          </p:spPr>
          <p:txBody>
            <a:bodyPr lIns="91425" tIns="45700" rIns="91425" bIns="45700" anchor="ctr" anchorCtr="0">
              <a:spAutoFit/>
            </a:bodyPr>
            <a:lstStyle/>
            <a:p>
              <a:endParaRPr/>
            </a:p>
          </p:txBody>
        </p:sp>
        <p:sp>
          <p:nvSpPr>
            <p:cNvPr id="16" name="Shape 16"/>
            <p:cNvSpPr/>
            <p:nvPr/>
          </p:nvSpPr>
          <p:spPr>
            <a:xfrm>
              <a:off x="0" y="3443287"/>
              <a:ext cx="9144000" cy="3055936"/>
            </a:xfrm>
            <a:custGeom>
              <a:avLst/>
              <a:gdLst/>
              <a:ahLst/>
              <a:cxnLst/>
              <a:rect l="0" t="0" r="0" b="0"/>
              <a:pathLst>
                <a:path w="5760" h="1925" extrusionOk="0">
                  <a:moveTo>
                    <a:pt x="0" y="804"/>
                  </a:moveTo>
                  <a:lnTo>
                    <a:pt x="0" y="991"/>
                  </a:lnTo>
                  <a:cubicBezTo>
                    <a:pt x="258" y="1160"/>
                    <a:pt x="1005" y="1925"/>
                    <a:pt x="1547" y="1818"/>
                  </a:cubicBezTo>
                  <a:cubicBezTo>
                    <a:pt x="2089" y="1711"/>
                    <a:pt x="2551" y="398"/>
                    <a:pt x="3253" y="351"/>
                  </a:cubicBezTo>
                  <a:cubicBezTo>
                    <a:pt x="3955" y="304"/>
                    <a:pt x="5342" y="1404"/>
                    <a:pt x="5760" y="1537"/>
                  </a:cubicBezTo>
                  <a:lnTo>
                    <a:pt x="5760" y="1151"/>
                  </a:lnTo>
                  <a:cubicBezTo>
                    <a:pt x="5405" y="1124"/>
                    <a:pt x="3982" y="0"/>
                    <a:pt x="3240" y="84"/>
                  </a:cubicBezTo>
                  <a:cubicBezTo>
                    <a:pt x="2542" y="171"/>
                    <a:pt x="2113" y="1551"/>
                    <a:pt x="1573" y="1671"/>
                  </a:cubicBezTo>
                  <a:cubicBezTo>
                    <a:pt x="1033" y="1791"/>
                    <a:pt x="262" y="826"/>
                    <a:pt x="0" y="804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50000">
                  <a:schemeClr val="accent2"/>
                </a:gs>
                <a:gs pos="50000">
                  <a:schemeClr val="accent2"/>
                </a:gs>
                <a:gs pos="100000">
                  <a:schemeClr val="lt1"/>
                </a:gs>
              </a:gsLst>
              <a:lin ang="10800000" scaled="0"/>
            </a:gradFill>
            <a:ln>
              <a:noFill/>
            </a:ln>
          </p:spPr>
          <p:txBody>
            <a:bodyPr lIns="91425" tIns="45700" rIns="91425" bIns="45700" anchor="ctr" anchorCtr="0">
              <a:spAutoFit/>
            </a:bodyPr>
            <a:lstStyle/>
            <a:p>
              <a:endParaRPr/>
            </a:p>
          </p:txBody>
        </p:sp>
        <p:sp>
          <p:nvSpPr>
            <p:cNvPr id="17" name="Shape 17"/>
            <p:cNvSpPr/>
            <p:nvPr/>
          </p:nvSpPr>
          <p:spPr>
            <a:xfrm>
              <a:off x="0" y="3552825"/>
              <a:ext cx="6237287" cy="3365500"/>
            </a:xfrm>
            <a:custGeom>
              <a:avLst/>
              <a:gdLst/>
              <a:ahLst/>
              <a:cxnLst/>
              <a:rect l="0" t="0" r="0" b="0"/>
              <a:pathLst>
                <a:path w="4196" h="2120" extrusionOk="0">
                  <a:moveTo>
                    <a:pt x="0" y="415"/>
                  </a:moveTo>
                  <a:lnTo>
                    <a:pt x="0" y="508"/>
                  </a:lnTo>
                  <a:cubicBezTo>
                    <a:pt x="160" y="577"/>
                    <a:pt x="1280" y="138"/>
                    <a:pt x="1933" y="229"/>
                  </a:cubicBezTo>
                  <a:cubicBezTo>
                    <a:pt x="2586" y="320"/>
                    <a:pt x="3644" y="746"/>
                    <a:pt x="3920" y="1055"/>
                  </a:cubicBezTo>
                  <a:cubicBezTo>
                    <a:pt x="4196" y="1364"/>
                    <a:pt x="3583" y="2120"/>
                    <a:pt x="3587" y="2082"/>
                  </a:cubicBezTo>
                  <a:lnTo>
                    <a:pt x="3947" y="829"/>
                  </a:lnTo>
                  <a:cubicBezTo>
                    <a:pt x="3725" y="494"/>
                    <a:pt x="2911" y="138"/>
                    <a:pt x="2253" y="69"/>
                  </a:cubicBezTo>
                  <a:cubicBezTo>
                    <a:pt x="1595" y="0"/>
                    <a:pt x="469" y="343"/>
                    <a:pt x="0" y="415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0">
                  <a:schemeClr val="lt1"/>
                </a:gs>
                <a:gs pos="50000">
                  <a:schemeClr val="lt1"/>
                </a:gs>
                <a:gs pos="100000">
                  <a:schemeClr val="accent2"/>
                </a:gs>
              </a:gsLst>
              <a:lin ang="5400000" scaled="0"/>
            </a:gradFill>
            <a:ln>
              <a:noFill/>
            </a:ln>
          </p:spPr>
          <p:txBody>
            <a:bodyPr lIns="91425" tIns="45700" rIns="91425" bIns="45700" anchor="ctr" anchorCtr="0">
              <a:spAutoFit/>
            </a:bodyPr>
            <a:lstStyle/>
            <a:p>
              <a:endParaRPr/>
            </a:p>
          </p:txBody>
        </p:sp>
      </p:grpSp>
      <p:sp>
        <p:nvSpPr>
          <p:cNvPr id="18" name="Shape 18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l" rtl="0">
              <a:defRPr sz="1400" b="0" i="0" u="none" strike="noStrike" cap="none"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20" name="Shape 20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ctr" rtl="0">
              <a:defRPr sz="1400" b="0" i="0" u="none" strike="noStrike" cap="none"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en-US"/>
              <a:t>Ravi Kant Sahu, Asst. Professor @ LPU Phagwara (Punjab) India</a:t>
            </a:r>
            <a:endParaRPr/>
          </a:p>
        </p:txBody>
      </p:sp>
      <p:sp>
        <p:nvSpPr>
          <p:cNvPr id="21" name="Shape 21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r" rtl="0">
              <a:defRPr sz="1400" b="0" i="0" u="none" strike="noStrike" cap="none"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1206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742950" marR="0" indent="-1778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Font typeface="Arial"/>
              <a:buChar char="•"/>
              <a:defRPr sz="2800" b="0" i="0" u="none" strike="noStrike" cap="none" baseline="0"/>
            </a:lvl2pPr>
            <a:lvl3pPr marL="1143000" marR="0" indent="-136525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Font typeface="Arial"/>
              <a:buChar char="•"/>
              <a:defRPr sz="2400" b="0" i="0" u="none" strike="noStrike" cap="none" baseline="0"/>
            </a:lvl3pPr>
            <a:lvl4pPr marL="1600200" marR="0" indent="-1524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/>
              <a:buChar char="•"/>
              <a:defRPr sz="2000" b="0" i="0" u="none" strike="noStrike" cap="none" baseline="0"/>
            </a:lvl4pPr>
            <a:lvl5pPr marL="2057400" marR="0" indent="-1524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/>
              <a:buChar char="•"/>
              <a:defRPr sz="2000" b="0" i="0" u="none" strike="noStrike" cap="none" baseline="0"/>
            </a:lvl5pPr>
            <a:lvl6pPr marL="2514600" marR="0" indent="-1079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2971800" marR="0" indent="-1079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429000" marR="0" indent="-1079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3886200" marR="0" indent="-1079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</p:sldLayoutIdLst>
  <p:hf sldNum="0" hd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2"/>
            </a:gs>
            <a:gs pos="50000">
              <a:schemeClr val="lt1"/>
            </a:gs>
            <a:gs pos="50000">
              <a:schemeClr val="lt1"/>
            </a:gs>
            <a:gs pos="100000">
              <a:schemeClr val="lt2"/>
            </a:gs>
          </a:gsLst>
          <a:lin ang="10800000" scaled="0"/>
        </a:gra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9812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300" b="0" dirty="0">
                <a:solidFill>
                  <a:srgbClr val="99FF66"/>
                </a:solidFill>
                <a:effectLst/>
                <a:latin typeface="Times New Roman" pitchFamily="18" charset="0"/>
                <a:cs typeface="Times New Roman" pitchFamily="18" charset="0"/>
              </a:rPr>
              <a:t>Data Structures &amp; Algorithms</a:t>
            </a:r>
            <a:br>
              <a:rPr lang="en-US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itchFamily="18" charset="0"/>
                <a:cs typeface="Times New Roman" pitchFamily="18" charset="0"/>
              </a:rPr>
            </a:br>
            <a:br>
              <a:rPr dirty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Topic: Heap</a:t>
            </a:r>
            <a:endParaRPr lang="en-US" b="0" dirty="0">
              <a:solidFill>
                <a:schemeClr val="bg2">
                  <a:lumMod val="60000"/>
                  <a:lumOff val="40000"/>
                </a:schemeClr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533400" y="2971800"/>
            <a:ext cx="8077200" cy="3886200"/>
          </a:xfrm>
        </p:spPr>
        <p:txBody>
          <a:bodyPr>
            <a:normAutofit lnSpcReduction="10000"/>
          </a:bodyPr>
          <a:lstStyle/>
          <a:p>
            <a:pPr algn="ctr">
              <a:spcBef>
                <a:spcPts val="638"/>
              </a:spcBef>
              <a:buClr>
                <a:srgbClr val="EBF1DD"/>
              </a:buClr>
              <a:buSzPct val="25000"/>
            </a:pPr>
            <a:endParaRPr lang="en-US" sz="24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spcBef>
                <a:spcPts val="638"/>
              </a:spcBef>
              <a:buClr>
                <a:srgbClr val="EBF1DD"/>
              </a:buClr>
              <a:buSzPct val="25000"/>
            </a:pPr>
            <a:endParaRPr lang="en-US" sz="24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spcBef>
                <a:spcPts val="638"/>
              </a:spcBef>
              <a:buClr>
                <a:srgbClr val="EBF1DD"/>
              </a:buClr>
              <a:buSzPct val="25000"/>
            </a:pPr>
            <a:endParaRPr lang="en-US" sz="24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spcBef>
                <a:spcPts val="638"/>
              </a:spcBef>
              <a:buClr>
                <a:srgbClr val="EBF1DD"/>
              </a:buClr>
              <a:buSzPct val="25000"/>
            </a:pPr>
            <a:endParaRPr lang="en-US" sz="24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spcBef>
                <a:spcPts val="638"/>
              </a:spcBef>
              <a:buClr>
                <a:srgbClr val="EBF1DD"/>
              </a:buClr>
              <a:buSzPct val="25000"/>
            </a:pPr>
            <a:endParaRPr lang="en-US" sz="24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spcBef>
                <a:spcPts val="638"/>
              </a:spcBef>
              <a:buClr>
                <a:srgbClr val="EBF1DD"/>
              </a:buClr>
              <a:buSzPct val="25000"/>
              <a:buNone/>
            </a:pPr>
            <a:r>
              <a:rPr lang="en-US" sz="2800" b="1" dirty="0">
                <a:solidFill>
                  <a:schemeClr val="tx2">
                    <a:lumMod val="10000"/>
                    <a:lumOff val="90000"/>
                  </a:schemeClr>
                </a:solidFill>
                <a:latin typeface="Times New Roman" pitchFamily="18" charset="0"/>
                <a:cs typeface="Times New Roman" pitchFamily="18" charset="0"/>
              </a:rPr>
              <a:t>By</a:t>
            </a:r>
            <a:endParaRPr lang="en-US" sz="2800" b="1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spcBef>
                <a:spcPts val="638"/>
              </a:spcBef>
              <a:buClr>
                <a:srgbClr val="EBF1DD"/>
              </a:buClr>
              <a:buSzPct val="25000"/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Ravi Kant </a:t>
            </a:r>
            <a:r>
              <a:rPr lang="en-US" sz="2400" b="1" dirty="0" err="1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Sahu</a:t>
            </a:r>
            <a:endParaRPr lang="en-US" sz="2400" b="1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spcBef>
                <a:spcPts val="638"/>
              </a:spcBef>
              <a:buClr>
                <a:srgbClr val="EBF1DD"/>
              </a:buClr>
              <a:buSzPct val="25000"/>
              <a:buNone/>
            </a:pPr>
            <a:r>
              <a:rPr lang="en-US" sz="2400" i="1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Asst. Professor,</a:t>
            </a:r>
          </a:p>
          <a:p>
            <a:pPr algn="ctr">
              <a:spcBef>
                <a:spcPts val="638"/>
              </a:spcBef>
              <a:buClr>
                <a:srgbClr val="EBF1DD"/>
              </a:buClr>
              <a:buSzPct val="25000"/>
              <a:buNone/>
            </a:pPr>
            <a:r>
              <a:rPr 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Lovely Professional University, Punjab</a:t>
            </a:r>
          </a:p>
          <a:p>
            <a:pPr algn="ctr"/>
            <a:endParaRPr lang="en-US" dirty="0"/>
          </a:p>
        </p:txBody>
      </p:sp>
      <p:pic>
        <p:nvPicPr>
          <p:cNvPr id="11" name="Picture 5" descr="lpu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81400" y="2832162"/>
            <a:ext cx="2059006" cy="204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2"/>
            </a:gs>
            <a:gs pos="50000">
              <a:schemeClr val="lt1"/>
            </a:gs>
            <a:gs pos="50000">
              <a:schemeClr val="lt1"/>
            </a:gs>
            <a:gs pos="100000">
              <a:schemeClr val="lt2"/>
            </a:gs>
          </a:gsLst>
          <a:lin ang="10800000" scaled="0"/>
        </a:gra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>
            <a:spLocks noGrp="1"/>
          </p:cNvSpPr>
          <p:nvPr>
            <p:ph type="title"/>
          </p:nvPr>
        </p:nvSpPr>
        <p:spPr>
          <a:xfrm>
            <a:off x="762000" y="304800"/>
            <a:ext cx="7772400" cy="76940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imes New Roman"/>
              <a:buNone/>
            </a:pPr>
            <a:r>
              <a:rPr lang="en" sz="4400" b="0" i="0" u="none" strike="noStrike" cap="none" baseline="0" dirty="0">
                <a:solidFill>
                  <a:srgbClr val="99FF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Contents</a:t>
            </a:r>
          </a:p>
        </p:txBody>
      </p:sp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762000" y="1295400"/>
            <a:ext cx="7772400" cy="327778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en" dirty="0"/>
              <a:t> </a:t>
            </a:r>
            <a:r>
              <a:rPr lang="en" sz="3000" dirty="0"/>
              <a:t>Introduction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en" sz="3000" dirty="0"/>
              <a:t> Insertion in Heap</a:t>
            </a: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en" sz="3000" b="0" i="0" u="none" strike="noStrike" cap="none" baseline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Deleting the Root of Heap</a:t>
            </a:r>
            <a:endParaRPr lang="en" sz="3000" dirty="0"/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en" sz="3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3000" dirty="0"/>
              <a:t>Heap Sort</a:t>
            </a:r>
            <a:endParaRPr lang="en" sz="3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en" sz="3000" dirty="0"/>
              <a:t> Heap Sort Complexity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en" sz="3000" dirty="0"/>
              <a:t> Review Questions</a:t>
            </a:r>
          </a:p>
        </p:txBody>
      </p:sp>
      <p:pic>
        <p:nvPicPr>
          <p:cNvPr id="4" name="Picture 5" descr="lpu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296471" cy="1287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>
          <a:xfrm>
            <a:off x="990600" y="6248400"/>
            <a:ext cx="7010400" cy="457200"/>
          </a:xfrm>
        </p:spPr>
        <p:txBody>
          <a:bodyPr/>
          <a:lstStyle/>
          <a:p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Ravi Kant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Sahu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, Asst. Professor @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LPU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Phagwara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 (Punjab) India</a:t>
            </a:r>
          </a:p>
        </p:txBody>
      </p:sp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>
            <a:spLocks noGrp="1"/>
          </p:cNvSpPr>
          <p:nvPr>
            <p:ph type="title"/>
          </p:nvPr>
        </p:nvSpPr>
        <p:spPr>
          <a:xfrm>
            <a:off x="762000" y="304800"/>
            <a:ext cx="7772400" cy="76940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imes New Roman"/>
              <a:buNone/>
            </a:pPr>
            <a:r>
              <a:rPr lang="en" dirty="0">
                <a:solidFill>
                  <a:srgbClr val="99FF66"/>
                </a:solidFill>
              </a:rPr>
              <a:t>Introduction</a:t>
            </a:r>
            <a:endParaRPr lang="en" sz="4400" b="0" i="0" u="none" strike="noStrike" cap="none" baseline="0" dirty="0">
              <a:solidFill>
                <a:srgbClr val="99FF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609600" y="1183284"/>
            <a:ext cx="8229600" cy="5293716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en" sz="3200" b="1" i="0" u="none" strike="noStrike" cap="none" baseline="0" dirty="0">
                <a:solidFill>
                  <a:srgbClr val="42EFF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Heap (MaxHeap):</a:t>
            </a:r>
            <a:r>
              <a:rPr lang="en" sz="3200" b="1" i="0" u="none" strike="noStrike" cap="none" dirty="0">
                <a:solidFill>
                  <a:srgbClr val="42EFF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complete binary tree H with n elements is called a Heap if each node N of H has the following property:</a:t>
            </a:r>
            <a:endParaRPr lang="en" sz="3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None/>
            </a:pPr>
            <a:r>
              <a:rPr lang="en" dirty="0"/>
              <a:t>   </a:t>
            </a:r>
            <a:r>
              <a:rPr lang="en" sz="2800" dirty="0">
                <a:solidFill>
                  <a:srgbClr val="FFFF00"/>
                </a:solidFill>
              </a:rPr>
              <a:t>“ The value at N is greater than or equal to the value at each of the children of N.”</a:t>
            </a:r>
            <a:r>
              <a:rPr lang="en" sz="2800" b="0" i="0" u="none" strike="noStrike" cap="none" dirty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None/>
            </a:pPr>
            <a:endParaRPr lang="en" sz="2800" dirty="0">
              <a:solidFill>
                <a:srgbClr val="FFFF00"/>
              </a:solidFill>
            </a:endParaRPr>
          </a:p>
          <a:p>
            <a:pPr indent="0">
              <a:buSzPct val="98958"/>
            </a:pPr>
            <a:r>
              <a:rPr lang="en" sz="2800" dirty="0">
                <a:solidFill>
                  <a:srgbClr val="FFFF00"/>
                </a:solidFill>
              </a:rPr>
              <a:t> </a:t>
            </a:r>
            <a:r>
              <a:rPr lang="en" sz="2400" dirty="0">
                <a:solidFill>
                  <a:srgbClr val="FFFFFF"/>
                </a:solidFill>
              </a:rPr>
              <a:t>If the value at N is less than or equal to the value at each of the children of N, then it is called MinHeap.</a:t>
            </a:r>
          </a:p>
          <a:p>
            <a:pPr indent="0">
              <a:buSzPct val="98958"/>
            </a:pPr>
            <a:endParaRPr lang="en" sz="2400" dirty="0">
              <a:solidFill>
                <a:srgbClr val="FFFF00"/>
              </a:solidFill>
            </a:endParaRPr>
          </a:p>
          <a:p>
            <a:pPr indent="0">
              <a:buSzPct val="98958"/>
            </a:pPr>
            <a:r>
              <a:rPr lang="en" sz="2400" dirty="0">
                <a:solidFill>
                  <a:srgbClr val="CCFFCC"/>
                </a:solidFill>
              </a:rPr>
              <a:t> Heaps are maintained in memory by using linear array TREE.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None/>
            </a:pPr>
            <a:endParaRPr lang="en" sz="3200" b="0" i="0" u="none" strike="noStrike" cap="none" baseline="0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5" descr="lpu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296471" cy="1287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>
          <a:xfrm>
            <a:off x="990600" y="6248400"/>
            <a:ext cx="7010400" cy="457200"/>
          </a:xfrm>
        </p:spPr>
        <p:txBody>
          <a:bodyPr/>
          <a:lstStyle/>
          <a:p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Ravi Kant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Sahu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, Asst. Professor @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LPU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Phagwara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 (Punjab) India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>
            <a:spLocks noGrp="1"/>
          </p:cNvSpPr>
          <p:nvPr>
            <p:ph type="title"/>
          </p:nvPr>
        </p:nvSpPr>
        <p:spPr>
          <a:xfrm>
            <a:off x="762000" y="304800"/>
            <a:ext cx="7772400" cy="76940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imes New Roman"/>
              <a:buNone/>
            </a:pPr>
            <a:r>
              <a:rPr lang="en" dirty="0">
                <a:solidFill>
                  <a:srgbClr val="99FF66"/>
                </a:solidFill>
              </a:rPr>
              <a:t>Insertion in a Heap</a:t>
            </a:r>
            <a:endParaRPr lang="en" sz="4400" b="0" i="0" u="none" strike="noStrike" cap="none" baseline="0" dirty="0">
              <a:solidFill>
                <a:srgbClr val="99FF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381000" y="1295400"/>
            <a:ext cx="8610600" cy="4401164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en" sz="2400" b="0" i="0" u="none" strike="noStrike" cap="none" baseline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INSERT_HEAP(TREE, N, ITEM)</a:t>
            </a:r>
          </a:p>
          <a:p>
            <a:pPr marL="514350" marR="0" lvl="0" indent="-5143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AutoNum type="arabicPeriod"/>
            </a:pPr>
            <a:r>
              <a:rPr lang="en" sz="2400" dirty="0"/>
              <a:t>Set N = N+1, and PTR = N.</a:t>
            </a:r>
          </a:p>
          <a:p>
            <a:pPr marL="514350" marR="0" lvl="0" indent="-5143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AutoNum type="arabicPeriod"/>
            </a:pPr>
            <a:r>
              <a:rPr lang="en" sz="2400" b="0" i="0" u="none" strike="noStrike" cap="none" baseline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Repeat Step 3 to 6 while </a:t>
            </a:r>
            <a:r>
              <a:rPr lang="en" sz="2400" b="0" i="0" u="none" strike="noStrike" cap="none" baseline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PTR </a:t>
            </a:r>
            <a:r>
              <a:rPr lang="en" sz="2400">
                <a:solidFill>
                  <a:srgbClr val="FFFFFF"/>
                </a:solidFill>
              </a:rPr>
              <a:t>&gt; </a:t>
            </a:r>
            <a:r>
              <a:rPr lang="en" sz="24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lang="en" sz="2400" b="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14350" marR="0" lvl="0" indent="-5143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AutoNum type="arabicPeriod"/>
            </a:pPr>
            <a:r>
              <a:rPr lang="en" sz="2400" dirty="0">
                <a:solidFill>
                  <a:srgbClr val="FFFFFF"/>
                </a:solidFill>
              </a:rPr>
              <a:t>        Set PAR = </a:t>
            </a:r>
          </a:p>
          <a:p>
            <a:pPr marL="514350" marR="0" lvl="0" indent="-5143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AutoNum type="arabicPeriod"/>
            </a:pPr>
            <a:r>
              <a:rPr lang="en" sz="2400" b="0" i="0" u="none" strike="noStrike" cap="none" baseline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If ITEM &lt;= TREE [PAR], then:</a:t>
            </a:r>
            <a:br>
              <a:rPr lang="en" sz="2400" b="0" i="0" u="none" strike="noStrike" cap="none" baseline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400" dirty="0">
                <a:solidFill>
                  <a:srgbClr val="FFFFFF"/>
                </a:solidFill>
              </a:rPr>
              <a:t>               Set TREE[PTR] = ITEM and Return.</a:t>
            </a:r>
          </a:p>
          <a:p>
            <a:pPr marL="514350" marR="0" lvl="0" indent="-5143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AutoNum type="arabicPeriod"/>
            </a:pPr>
            <a:r>
              <a:rPr lang="en" sz="2400" dirty="0">
                <a:solidFill>
                  <a:srgbClr val="FFFFFF"/>
                </a:solidFill>
              </a:rPr>
              <a:t>        Else: Set TREE[PTR] = TREE[PAR].</a:t>
            </a:r>
          </a:p>
          <a:p>
            <a:pPr marL="514350" marR="0" lvl="0" indent="-5143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AutoNum type="arabicPeriod"/>
            </a:pPr>
            <a:r>
              <a:rPr lang="en" sz="2400" b="0" i="0" u="none" strike="noStrike" cap="none" baseline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Set PTR = PAR.</a:t>
            </a:r>
          </a:p>
          <a:p>
            <a:pPr marL="514350" marR="0" lvl="0" indent="-5143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AutoNum type="arabicPeriod"/>
            </a:pPr>
            <a:r>
              <a:rPr lang="en" sz="2400" dirty="0">
                <a:solidFill>
                  <a:srgbClr val="FFFFFF"/>
                </a:solidFill>
              </a:rPr>
              <a:t>Set TREE[1] = ITEM.</a:t>
            </a:r>
          </a:p>
          <a:p>
            <a:pPr marL="514350" marR="0" lvl="0" indent="-5143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AutoNum type="arabicPeriod"/>
            </a:pPr>
            <a:r>
              <a:rPr lang="en" sz="2400" b="0" i="0" u="none" strike="noStrike" cap="none" baseline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Return.       </a:t>
            </a:r>
          </a:p>
        </p:txBody>
      </p:sp>
      <p:pic>
        <p:nvPicPr>
          <p:cNvPr id="4" name="Picture 5" descr="lpu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0"/>
            <a:ext cx="1296471" cy="1287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>
          <a:xfrm>
            <a:off x="990600" y="6248400"/>
            <a:ext cx="7010400" cy="457200"/>
          </a:xfrm>
        </p:spPr>
        <p:txBody>
          <a:bodyPr/>
          <a:lstStyle/>
          <a:p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Ravi Kant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Sahu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, Asst. Professor @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LPU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Phagwara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 (Punjab) India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2971800" y="2590800"/>
          <a:ext cx="16192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Equation" r:id="rId5" imgW="647640" imgH="253800" progId="Equation.DSMT4">
                  <p:embed/>
                </p:oleObj>
              </mc:Choice>
              <mc:Fallback>
                <p:oleObj name="Equation" r:id="rId5" imgW="647640" imgH="25380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2590800"/>
                        <a:ext cx="1619250" cy="5334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>
            <a:spLocks noGrp="1"/>
          </p:cNvSpPr>
          <p:nvPr>
            <p:ph type="title"/>
          </p:nvPr>
        </p:nvSpPr>
        <p:spPr>
          <a:xfrm>
            <a:off x="762000" y="304800"/>
            <a:ext cx="7772400" cy="76940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imes New Roman"/>
              <a:buNone/>
            </a:pPr>
            <a:r>
              <a:rPr lang="en" dirty="0">
                <a:solidFill>
                  <a:srgbClr val="99FF66"/>
                </a:solidFill>
              </a:rPr>
              <a:t>Example</a:t>
            </a:r>
            <a:endParaRPr lang="en" sz="4400" b="0" i="0" u="none" strike="noStrike" cap="none" baseline="0" dirty="0">
              <a:solidFill>
                <a:srgbClr val="99FF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381000" y="1295400"/>
            <a:ext cx="8610600" cy="1092566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en" sz="3000" i="1" dirty="0">
                <a:solidFill>
                  <a:srgbClr val="FFFF00"/>
                </a:solidFill>
              </a:rPr>
              <a:t> </a:t>
            </a:r>
            <a:r>
              <a:rPr lang="en" sz="3000" dirty="0">
                <a:solidFill>
                  <a:srgbClr val="FFFFFF"/>
                </a:solidFill>
              </a:rPr>
              <a:t>Create a Heap from the following list of numbers: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None/>
            </a:pPr>
            <a:r>
              <a:rPr lang="en" sz="3000" b="0" i="1" u="none" strike="noStrike" cap="none" baseline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40, 30, 50, 20, 60, 55, 70, 60, 65, 50</a:t>
            </a:r>
            <a:endParaRPr lang="en" sz="3000" b="0" i="0" u="none" strike="noStrike" cap="none" baseline="0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5" descr="lpu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296471" cy="1287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>
          <a:xfrm>
            <a:off x="990600" y="6248400"/>
            <a:ext cx="7010400" cy="457200"/>
          </a:xfrm>
        </p:spPr>
        <p:txBody>
          <a:bodyPr/>
          <a:lstStyle/>
          <a:p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Ravi Kant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Sahu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, Asst. Professor @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LPU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Phagwara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 (Punjab) India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>
            <a:spLocks noGrp="1"/>
          </p:cNvSpPr>
          <p:nvPr>
            <p:ph type="title"/>
          </p:nvPr>
        </p:nvSpPr>
        <p:spPr>
          <a:xfrm>
            <a:off x="762000" y="304800"/>
            <a:ext cx="7772400" cy="76940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imes New Roman"/>
              <a:buNone/>
            </a:pPr>
            <a:r>
              <a:rPr lang="en" dirty="0">
                <a:solidFill>
                  <a:srgbClr val="99FF66"/>
                </a:solidFill>
              </a:rPr>
              <a:t>Deletion of Root of a Heap</a:t>
            </a:r>
            <a:endParaRPr lang="en" sz="4400" b="0" i="0" u="none" strike="noStrike" cap="none" baseline="0" dirty="0">
              <a:solidFill>
                <a:srgbClr val="99FF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609600" y="1295400"/>
            <a:ext cx="8229600" cy="3046948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en" sz="3200" b="0" i="0" u="none" strike="noStrike" cap="none" baseline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2800" b="0" i="0" u="none" strike="noStrike" cap="none" baseline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 Root R to some variable ITEM.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endParaRPr lang="en" sz="2800" b="0" i="0" u="none" strike="noStrike" cap="none" baseline="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en" sz="2800" dirty="0"/>
              <a:t> Replace the deleted node R by the last node L of Heap H so that H is still complete tree, </a:t>
            </a:r>
            <a:r>
              <a:rPr lang="en" sz="2800" dirty="0">
                <a:solidFill>
                  <a:srgbClr val="FFFF00"/>
                </a:solidFill>
              </a:rPr>
              <a:t>but not a Heap</a:t>
            </a:r>
            <a:r>
              <a:rPr lang="en" sz="2800" dirty="0"/>
              <a:t>.</a:t>
            </a:r>
            <a:r>
              <a:rPr lang="en" sz="2800" b="0" i="0" u="none" strike="noStrike" cap="none" baseline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endParaRPr lang="en" sz="2800" dirty="0"/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en" sz="2800" dirty="0"/>
              <a:t> Call MaxHeapify to maintain the heap property.</a:t>
            </a:r>
            <a:endParaRPr lang="en" sz="2800" b="0" i="0" u="none" strike="noStrike" cap="none" baseline="0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5" descr="lpu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296471" cy="1287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>
          <a:xfrm>
            <a:off x="990600" y="6248400"/>
            <a:ext cx="7010400" cy="457200"/>
          </a:xfrm>
        </p:spPr>
        <p:txBody>
          <a:bodyPr/>
          <a:lstStyle/>
          <a:p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Ravi Kant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Sahu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, Asst. Professor @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LPU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Phagwara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 (Punjab) India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>
            <a:spLocks noGrp="1"/>
          </p:cNvSpPr>
          <p:nvPr>
            <p:ph type="title"/>
          </p:nvPr>
        </p:nvSpPr>
        <p:spPr>
          <a:xfrm>
            <a:off x="762000" y="304800"/>
            <a:ext cx="7772400" cy="76940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imes New Roman"/>
              <a:buNone/>
            </a:pPr>
            <a:r>
              <a:rPr lang="en" dirty="0">
                <a:solidFill>
                  <a:srgbClr val="99FF66"/>
                </a:solidFill>
              </a:rPr>
              <a:t>Build MaxHeap</a:t>
            </a:r>
            <a:endParaRPr lang="en" sz="4400" b="0" i="0" u="none" strike="noStrike" cap="none" baseline="0" dirty="0">
              <a:solidFill>
                <a:srgbClr val="99FF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609600" y="1143000"/>
            <a:ext cx="8229600" cy="255450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None/>
            </a:pPr>
            <a:r>
              <a:rPr lang="en" sz="2800" dirty="0">
                <a:solidFill>
                  <a:srgbClr val="66FFCC"/>
                </a:solidFill>
              </a:rPr>
              <a:t>BUILD_MAX-HEAP(A)</a:t>
            </a:r>
          </a:p>
          <a:p>
            <a:pPr marL="514350" marR="0" lvl="0" indent="-5143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AutoNum type="arabicPeriod"/>
            </a:pPr>
            <a:r>
              <a:rPr lang="en" sz="2800" dirty="0">
                <a:solidFill>
                  <a:srgbClr val="FFFFFF"/>
                </a:solidFill>
              </a:rPr>
              <a:t>heapsize[A] = length[A]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AutoNum type="arabicPeriod"/>
            </a:pPr>
            <a:r>
              <a:rPr lang="en" sz="2800" dirty="0">
                <a:solidFill>
                  <a:srgbClr val="FFFFFF"/>
                </a:solidFill>
              </a:rPr>
              <a:t>Repeat for i = </a:t>
            </a:r>
            <a:r>
              <a:rPr lang="en" sz="3600" baseline="-25000" dirty="0">
                <a:solidFill>
                  <a:srgbClr val="FFFFFF"/>
                </a:solidFill>
              </a:rPr>
              <a:t>└</a:t>
            </a:r>
            <a:r>
              <a:rPr lang="en" sz="2800" dirty="0">
                <a:solidFill>
                  <a:srgbClr val="FFFFFF"/>
                </a:solidFill>
              </a:rPr>
              <a:t> </a:t>
            </a:r>
            <a:r>
              <a:rPr lang="en" sz="2800" dirty="0">
                <a:solidFill>
                  <a:schemeClr val="tx1">
                    <a:lumMod val="90000"/>
                  </a:schemeClr>
                </a:solidFill>
              </a:rPr>
              <a:t>length[A]/2 </a:t>
            </a:r>
            <a:r>
              <a:rPr lang="en" sz="3600" baseline="-25000" dirty="0">
                <a:solidFill>
                  <a:srgbClr val="FFFFFF"/>
                </a:solidFill>
              </a:rPr>
              <a:t>┘</a:t>
            </a:r>
            <a:r>
              <a:rPr lang="en" sz="2800" dirty="0">
                <a:solidFill>
                  <a:srgbClr val="FFFFFF"/>
                </a:solidFill>
              </a:rPr>
              <a:t> to 1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AutoNum type="arabicPeriod"/>
            </a:pPr>
            <a:r>
              <a:rPr lang="en" sz="2800" dirty="0">
                <a:solidFill>
                  <a:srgbClr val="FFFFFF"/>
                </a:solidFill>
              </a:rPr>
              <a:t>          Call MAX_HEAPIFY(A, i)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AutoNum type="arabicPeriod"/>
            </a:pPr>
            <a:r>
              <a:rPr lang="en" sz="2800" dirty="0">
                <a:solidFill>
                  <a:srgbClr val="FFFFFF"/>
                </a:solidFill>
              </a:rPr>
              <a:t>Exit</a:t>
            </a:r>
            <a:endParaRPr lang="en" sz="2400" dirty="0">
              <a:solidFill>
                <a:srgbClr val="FFFFFF"/>
              </a:solidFill>
            </a:endParaRPr>
          </a:p>
        </p:txBody>
      </p:sp>
      <p:pic>
        <p:nvPicPr>
          <p:cNvPr id="4" name="Picture 5" descr="lpu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296471" cy="1287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>
          <a:xfrm>
            <a:off x="990600" y="6248400"/>
            <a:ext cx="7010400" cy="457200"/>
          </a:xfrm>
        </p:spPr>
        <p:txBody>
          <a:bodyPr/>
          <a:lstStyle/>
          <a:p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Ravi Kant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Sahu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, Asst. Professor @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LPU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Phagwara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 (Punjab) India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>
            <a:spLocks noGrp="1"/>
          </p:cNvSpPr>
          <p:nvPr>
            <p:ph type="title"/>
          </p:nvPr>
        </p:nvSpPr>
        <p:spPr>
          <a:xfrm>
            <a:off x="762000" y="304800"/>
            <a:ext cx="7772400" cy="70784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imes New Roman"/>
              <a:buNone/>
            </a:pPr>
            <a:r>
              <a:rPr lang="en" sz="4000" dirty="0">
                <a:solidFill>
                  <a:srgbClr val="99FF66"/>
                </a:solidFill>
              </a:rPr>
              <a:t>Maintaining Heap Property</a:t>
            </a:r>
            <a:endParaRPr lang="en" sz="4000" b="0" i="0" u="none" strike="noStrike" cap="none" baseline="0" dirty="0">
              <a:solidFill>
                <a:srgbClr val="99FF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609600" y="1143000"/>
            <a:ext cx="8229600" cy="4832052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None/>
            </a:pPr>
            <a:r>
              <a:rPr lang="en" sz="2800" b="0" i="0" u="none" strike="noStrike" cap="none" baseline="0" dirty="0">
                <a:solidFill>
                  <a:srgbClr val="66FF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MAX_HEAPIFY</a:t>
            </a:r>
            <a:r>
              <a:rPr lang="en" sz="2800" b="0" i="0" u="none" strike="noStrike" cap="none" dirty="0">
                <a:solidFill>
                  <a:srgbClr val="66FF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(A, i)</a:t>
            </a:r>
          </a:p>
          <a:p>
            <a:pPr marL="514350" marR="0" lvl="0" indent="-5143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AutoNum type="arabicPeriod"/>
            </a:pPr>
            <a:r>
              <a:rPr lang="en" sz="2300" baseline="0" dirty="0">
                <a:solidFill>
                  <a:srgbClr val="FFFFFF"/>
                </a:solidFill>
              </a:rPr>
              <a:t>Set:  l = LEFT</a:t>
            </a:r>
            <a:r>
              <a:rPr lang="en" sz="2300" dirty="0">
                <a:solidFill>
                  <a:srgbClr val="FFFFFF"/>
                </a:solidFill>
              </a:rPr>
              <a:t> (i)</a:t>
            </a:r>
          </a:p>
          <a:p>
            <a:pPr marL="514350" marR="0" lvl="0" indent="-5143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AutoNum type="arabicPeriod"/>
            </a:pPr>
            <a:r>
              <a:rPr lang="en" sz="2300" b="0" i="0" u="none" strike="noStrike" cap="none" baseline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Set:  r = RIGHT (i)</a:t>
            </a:r>
          </a:p>
          <a:p>
            <a:pPr marL="514350" marR="0" lvl="0" indent="-5143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AutoNum type="arabicPeriod"/>
            </a:pPr>
            <a:r>
              <a:rPr lang="en" sz="2300" dirty="0">
                <a:solidFill>
                  <a:srgbClr val="FFFFFF"/>
                </a:solidFill>
              </a:rPr>
              <a:t>If   l &lt;= heapsize [A] and A[l] &gt; A[i], then:</a:t>
            </a:r>
          </a:p>
          <a:p>
            <a:pPr marL="514350" marR="0" lvl="0" indent="-5143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AutoNum type="arabicPeriod"/>
            </a:pPr>
            <a:r>
              <a:rPr lang="en" sz="2300" b="0" i="0" u="none" strike="noStrike" cap="none" baseline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largest</a:t>
            </a:r>
            <a:r>
              <a:rPr lang="en" sz="23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l.</a:t>
            </a:r>
          </a:p>
          <a:p>
            <a:pPr marL="514350" marR="0" lvl="0" indent="-5143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AutoNum type="arabicPeriod"/>
            </a:pPr>
            <a:r>
              <a:rPr lang="en" sz="2300" baseline="0" dirty="0">
                <a:solidFill>
                  <a:srgbClr val="FFFFFF"/>
                </a:solidFill>
              </a:rPr>
              <a:t>Else:</a:t>
            </a:r>
            <a:r>
              <a:rPr lang="en" sz="2300" dirty="0">
                <a:solidFill>
                  <a:srgbClr val="FFFFFF"/>
                </a:solidFill>
              </a:rPr>
              <a:t> largest = i.</a:t>
            </a:r>
          </a:p>
          <a:p>
            <a:pPr marL="514350" lvl="0" indent="-514350">
              <a:buSzPct val="98958"/>
              <a:buAutoNum type="arabicPeriod"/>
            </a:pPr>
            <a:r>
              <a:rPr lang="en" sz="2300" dirty="0">
                <a:solidFill>
                  <a:srgbClr val="FFFFFF"/>
                </a:solidFill>
              </a:rPr>
              <a:t>If   r &lt;= heapsize [A] and A[r] &gt; A[largest], then:</a:t>
            </a:r>
          </a:p>
          <a:p>
            <a:pPr marL="514350" marR="0" lvl="0" indent="-5143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AutoNum type="arabicPeriod"/>
            </a:pPr>
            <a:r>
              <a:rPr lang="en" sz="2300" b="0" i="0" u="none" strike="noStrike" cap="none" baseline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largest = r.</a:t>
            </a:r>
          </a:p>
          <a:p>
            <a:pPr marL="514350" marR="0" lvl="0" indent="-5143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AutoNum type="arabicPeriod"/>
            </a:pPr>
            <a:r>
              <a:rPr lang="en" sz="2300" dirty="0">
                <a:solidFill>
                  <a:srgbClr val="FFFFFF"/>
                </a:solidFill>
              </a:rPr>
              <a:t>If   largest != i, then:</a:t>
            </a:r>
          </a:p>
          <a:p>
            <a:pPr marL="514350" marR="0" lvl="0" indent="-5143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AutoNum type="arabicPeriod"/>
            </a:pPr>
            <a:r>
              <a:rPr lang="en" sz="23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Exchange A[i]       A[largest].</a:t>
            </a:r>
          </a:p>
          <a:p>
            <a:pPr marL="514350" marR="0" lvl="0" indent="-5143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AutoNum type="arabicPeriod"/>
            </a:pPr>
            <a:r>
              <a:rPr lang="en" sz="2300" baseline="0" dirty="0">
                <a:solidFill>
                  <a:srgbClr val="FFFFFF"/>
                </a:solidFill>
              </a:rPr>
              <a:t>          MAX_HEAPIFY</a:t>
            </a:r>
            <a:r>
              <a:rPr lang="en" sz="2300" dirty="0">
                <a:solidFill>
                  <a:srgbClr val="FFFFFF"/>
                </a:solidFill>
              </a:rPr>
              <a:t> (A, largest).</a:t>
            </a:r>
            <a:endParaRPr lang="en" sz="2300" b="0" i="0" u="none" strike="noStrike" cap="none" baseline="0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5" descr="lpu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296471" cy="1287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>
          <a:xfrm>
            <a:off x="990600" y="6248400"/>
            <a:ext cx="7010400" cy="457200"/>
          </a:xfrm>
        </p:spPr>
        <p:txBody>
          <a:bodyPr/>
          <a:lstStyle/>
          <a:p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Ravi Kant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Sahu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, Asst. Professor @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LPU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Phagwara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 (Punjab) India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3657600" y="5334000"/>
            <a:ext cx="457200" cy="1588"/>
          </a:xfrm>
          <a:prstGeom prst="straightConnector1">
            <a:avLst/>
          </a:prstGeom>
          <a:ln w="25400">
            <a:solidFill>
              <a:srgbClr val="FFFFFF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5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5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>
            <a:spLocks noGrp="1"/>
          </p:cNvSpPr>
          <p:nvPr>
            <p:ph type="title"/>
          </p:nvPr>
        </p:nvSpPr>
        <p:spPr>
          <a:xfrm>
            <a:off x="762000" y="304800"/>
            <a:ext cx="7772400" cy="76940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imes New Roman"/>
              <a:buNone/>
            </a:pPr>
            <a:r>
              <a:rPr lang="en" dirty="0">
                <a:solidFill>
                  <a:srgbClr val="99FF66"/>
                </a:solidFill>
              </a:rPr>
              <a:t>Heap Sort</a:t>
            </a:r>
            <a:endParaRPr lang="en" sz="4400" b="0" i="0" u="none" strike="noStrike" cap="none" baseline="0" dirty="0">
              <a:solidFill>
                <a:srgbClr val="99FF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609600" y="1143000"/>
            <a:ext cx="8229600" cy="3200836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None/>
            </a:pPr>
            <a:r>
              <a:rPr lang="en" sz="2800" b="0" i="0" u="none" strike="noStrike" cap="none" baseline="0" dirty="0">
                <a:solidFill>
                  <a:srgbClr val="42EFF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HEAP_SORT (A)</a:t>
            </a:r>
          </a:p>
          <a:p>
            <a:pPr marL="514350" marR="0" lvl="0" indent="-5143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AutoNum type="arabicPeriod"/>
            </a:pPr>
            <a:r>
              <a:rPr lang="en" sz="2400" dirty="0"/>
              <a:t>BUILD_MAXHEAP (A)</a:t>
            </a:r>
          </a:p>
          <a:p>
            <a:pPr marL="514350" marR="0" lvl="0" indent="-5143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AutoNum type="arabicPeriod"/>
            </a:pPr>
            <a:r>
              <a:rPr lang="en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Repeat for i = length[A] to 2</a:t>
            </a:r>
          </a:p>
          <a:p>
            <a:pPr marL="514350" marR="0" lvl="0" indent="-5143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AutoNum type="arabicPeriod"/>
            </a:pPr>
            <a:r>
              <a:rPr lang="en" sz="2400" dirty="0"/>
              <a:t>         Exchange A[1]       A[i].</a:t>
            </a:r>
          </a:p>
          <a:p>
            <a:pPr marL="514350" marR="0" lvl="0" indent="-5143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AutoNum type="arabicPeriod"/>
            </a:pPr>
            <a:r>
              <a:rPr lang="en" sz="2400" dirty="0"/>
              <a:t>         Heapsize[A] = Heapsize [A] ─ 1.</a:t>
            </a:r>
          </a:p>
          <a:p>
            <a:pPr marL="514350" marR="0" lvl="0" indent="-5143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AutoNum type="arabicPeriod"/>
            </a:pPr>
            <a:r>
              <a:rPr lang="en" sz="2400" dirty="0"/>
              <a:t>         Call MAX_HEAPIFY(A, 1). </a:t>
            </a:r>
          </a:p>
          <a:p>
            <a:pPr marL="514350" marR="0" lvl="0" indent="-5143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AutoNum type="arabicPeriod"/>
            </a:pPr>
            <a:r>
              <a:rPr lang="en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Exit.</a:t>
            </a:r>
          </a:p>
        </p:txBody>
      </p:sp>
      <p:pic>
        <p:nvPicPr>
          <p:cNvPr id="4" name="Picture 5" descr="lpu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296471" cy="1287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>
          <a:xfrm>
            <a:off x="990600" y="6248400"/>
            <a:ext cx="7010400" cy="457200"/>
          </a:xfrm>
        </p:spPr>
        <p:txBody>
          <a:bodyPr/>
          <a:lstStyle/>
          <a:p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Ravi Kant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Sahu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, Asst. Professor @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LPU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Phagwara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 (Punjab) India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3810000" y="2819400"/>
            <a:ext cx="457200" cy="1588"/>
          </a:xfrm>
          <a:prstGeom prst="straightConnector1">
            <a:avLst/>
          </a:prstGeom>
          <a:ln w="25400">
            <a:solidFill>
              <a:srgbClr val="FFFFFF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>
            <a:spLocks noGrp="1"/>
          </p:cNvSpPr>
          <p:nvPr>
            <p:ph type="title"/>
          </p:nvPr>
        </p:nvSpPr>
        <p:spPr>
          <a:xfrm>
            <a:off x="762000" y="304800"/>
            <a:ext cx="7772400" cy="76940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imes New Roman"/>
              <a:buNone/>
            </a:pPr>
            <a:r>
              <a:rPr lang="en" dirty="0">
                <a:solidFill>
                  <a:srgbClr val="99FF66"/>
                </a:solidFill>
              </a:rPr>
              <a:t>Complexity of Heap Sort</a:t>
            </a:r>
            <a:endParaRPr lang="en" sz="4400" b="0" i="0" u="none" strike="noStrike" cap="none" baseline="0" dirty="0">
              <a:solidFill>
                <a:srgbClr val="99FF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609600" y="1143000"/>
            <a:ext cx="8229600" cy="461624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None/>
            </a:pPr>
            <a:r>
              <a:rPr lang="en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and Worst case Complexity of Heap sort = O(nlogn).</a:t>
            </a:r>
          </a:p>
        </p:txBody>
      </p:sp>
      <p:pic>
        <p:nvPicPr>
          <p:cNvPr id="4" name="Picture 5" descr="lpu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296471" cy="1287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>
          <a:xfrm>
            <a:off x="990600" y="6248400"/>
            <a:ext cx="7010400" cy="457200"/>
          </a:xfrm>
        </p:spPr>
        <p:txBody>
          <a:bodyPr/>
          <a:lstStyle/>
          <a:p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Ravi Kant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Sahu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, Asst. Professor @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LPU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Phagwara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 (Punjab) India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5029200"/>
            <a:ext cx="5181600" cy="91440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CCFFCC"/>
                </a:solidFill>
              </a:rPr>
              <a:t> Questions</a:t>
            </a:r>
          </a:p>
        </p:txBody>
      </p:sp>
      <p:pic>
        <p:nvPicPr>
          <p:cNvPr id="4" name="Content Placeholder 3" descr="faq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67000" y="1143000"/>
            <a:ext cx="4038600" cy="3962400"/>
          </a:xfrm>
        </p:spPr>
      </p:pic>
    </p:spTree>
  </p:cSld>
  <p:clrMapOvr>
    <a:masterClrMapping/>
  </p:clrMapOvr>
  <p:transition spd="slow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>
            <a:spLocks noGrp="1"/>
          </p:cNvSpPr>
          <p:nvPr>
            <p:ph type="title"/>
          </p:nvPr>
        </p:nvSpPr>
        <p:spPr>
          <a:xfrm>
            <a:off x="762000" y="304800"/>
            <a:ext cx="7772400" cy="76940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imes New Roman"/>
              <a:buNone/>
            </a:pPr>
            <a:r>
              <a:rPr lang="en" dirty="0">
                <a:solidFill>
                  <a:srgbClr val="99FF66"/>
                </a:solidFill>
              </a:rPr>
              <a:t>Review Questions</a:t>
            </a:r>
            <a:endParaRPr lang="en" sz="4400" b="0" i="0" u="none" strike="noStrike" cap="none" baseline="0" dirty="0">
              <a:solidFill>
                <a:srgbClr val="99FF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609600" y="1143000"/>
            <a:ext cx="8229600" cy="4031833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en" sz="2400" b="0" i="0" u="none" strike="noStrike" cap="none" baseline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What do you mean by Heap?</a:t>
            </a: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None/>
            </a:pPr>
            <a:endParaRPr lang="en" sz="2400" b="0" i="0" u="none" strike="noStrike" cap="none" baseline="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en" sz="2400" b="0" i="0" u="none" strike="noStrike" cap="none" baseline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What is the complexity of Heap sort?</a:t>
            </a: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None/>
            </a:pPr>
            <a:endParaRPr lang="en" sz="2400" dirty="0"/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en" sz="2400" dirty="0"/>
              <a:t> Calculate the complexity of Heap sort.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endParaRPr lang="en" sz="2400" dirty="0"/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en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How will you insert an element in a heap?</a:t>
            </a: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endParaRPr lang="en" sz="2400" dirty="0"/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en" sz="2400" dirty="0"/>
              <a:t> What is the difference between Maxheap and Minheap?</a:t>
            </a:r>
            <a:endParaRPr lang="en"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5" descr="lpu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296471" cy="1287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>
          <a:xfrm>
            <a:off x="990600" y="6248400"/>
            <a:ext cx="7010400" cy="457200"/>
          </a:xfrm>
        </p:spPr>
        <p:txBody>
          <a:bodyPr/>
          <a:lstStyle/>
          <a:p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Ravi Kant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Sahu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, Asst. Professor @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LPU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Phagwara</a:t>
            </a:r>
            <a:r>
              <a:rPr lang="en-US" sz="1600" dirty="0">
                <a:solidFill>
                  <a:srgbClr val="CCFFCC"/>
                </a:solidFill>
                <a:latin typeface="Times New Roman" pitchFamily="18" charset="0"/>
                <a:cs typeface="Times New Roman" pitchFamily="18" charset="0"/>
              </a:rPr>
              <a:t> (Punjab) India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build="p"/>
    </p:bldLst>
  </p:timing>
</p:sld>
</file>

<file path=ppt/theme/theme1.xml><?xml version="1.0" encoding="utf-8"?>
<a:theme xmlns:a="http://schemas.openxmlformats.org/drawingml/2006/main">
  <a:themeElements>
    <a:clrScheme name="리본.pot 1">
      <a:dk1>
        <a:srgbClr val="FFFFCC"/>
      </a:dk1>
      <a:lt1>
        <a:srgbClr val="660033"/>
      </a:lt1>
      <a:dk2>
        <a:srgbClr val="FFCC00"/>
      </a:dk2>
      <a:lt2>
        <a:srgbClr val="220011"/>
      </a:lt2>
      <a:accent1>
        <a:srgbClr val="CC0099"/>
      </a:accent1>
      <a:accent2>
        <a:srgbClr val="56002B"/>
      </a:accent2>
      <a:accent3>
        <a:srgbClr val="660033"/>
      </a:accent3>
      <a:accent4>
        <a:srgbClr val="CC0099"/>
      </a:accent4>
      <a:accent5>
        <a:srgbClr val="56002B"/>
      </a:accent5>
      <a:accent6>
        <a:srgbClr val="660033"/>
      </a:accent6>
      <a:hlink>
        <a:srgbClr val="9C004E"/>
      </a:hlink>
      <a:folHlink>
        <a:srgbClr val="FF66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1460</TotalTime>
  <Words>1055</Words>
  <Application>Microsoft Office PowerPoint</Application>
  <PresentationFormat>On-screen Show (4:3)</PresentationFormat>
  <Paragraphs>193</Paragraphs>
  <Slides>12</Slides>
  <Notes>11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Times New Roman</vt:lpstr>
      <vt:lpstr/>
      <vt:lpstr>Equation</vt:lpstr>
      <vt:lpstr>Data Structures &amp; Algorithms  Topic: Heap</vt:lpstr>
      <vt:lpstr>Contents</vt:lpstr>
      <vt:lpstr>Introduction</vt:lpstr>
      <vt:lpstr>Insertion in a Heap</vt:lpstr>
      <vt:lpstr>Example</vt:lpstr>
      <vt:lpstr>Deletion of Root of a Heap</vt:lpstr>
      <vt:lpstr>Build MaxHeap</vt:lpstr>
      <vt:lpstr>Maintaining Heap Property</vt:lpstr>
      <vt:lpstr>Heap Sort</vt:lpstr>
      <vt:lpstr>Complexity of Heap Sort</vt:lpstr>
      <vt:lpstr> Questions</vt:lpstr>
      <vt:lpstr>Review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History of Java</dc:title>
  <dc:creator>RA-V</dc:creator>
  <cp:lastModifiedBy>Ravi Kant Sahu</cp:lastModifiedBy>
  <cp:revision>65</cp:revision>
  <dcterms:modified xsi:type="dcterms:W3CDTF">2021-11-11T06:33:36Z</dcterms:modified>
</cp:coreProperties>
</file>