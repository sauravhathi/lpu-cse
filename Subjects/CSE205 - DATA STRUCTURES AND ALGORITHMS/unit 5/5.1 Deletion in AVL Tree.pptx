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300" r:id="rId4"/>
    <p:sldId id="307" r:id="rId5"/>
    <p:sldId id="308" r:id="rId6"/>
    <p:sldId id="309" r:id="rId7"/>
    <p:sldId id="301" r:id="rId8"/>
    <p:sldId id="310" r:id="rId9"/>
    <p:sldId id="311" r:id="rId10"/>
    <p:sldId id="266" r:id="rId11"/>
  </p:sldIdLst>
  <p:sldSz cx="9144000" cy="6858000" type="screen4x3"/>
  <p:notesSz cx="6646863" cy="9777413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rry.westenberg" initials="l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FFFF"/>
    <a:srgbClr val="99FF66"/>
    <a:srgbClr val="FFFF53"/>
    <a:srgbClr val="66FFCC"/>
    <a:srgbClr val="FFDA3F"/>
    <a:srgbClr val="42E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751"/>
  </p:normalViewPr>
  <p:slideViewPr>
    <p:cSldViewPr>
      <p:cViewPr varScale="1">
        <p:scale>
          <a:sx n="119" d="100"/>
          <a:sy n="119" d="100"/>
        </p:scale>
        <p:origin x="1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765550" y="0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881062" y="733425"/>
            <a:ext cx="4886325" cy="366553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endParaRPr lang="en" sz="1800" b="0" i="0" u="none" strike="noStrike" cap="none" baseline="0" dirty="0"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title" idx="2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indent="-1778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indent="-1778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AB0503-4E0C-42D7-842F-D72E5512277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 9"/>
          <p:cNvGrpSpPr/>
          <p:nvPr/>
        </p:nvGrpSpPr>
        <p:grpSpPr>
          <a:xfrm>
            <a:off x="0" y="0"/>
            <a:ext cx="9144000" cy="6918325"/>
            <a:chOff x="0" y="0"/>
            <a:chExt cx="9144000" cy="6918325"/>
          </a:xfrm>
        </p:grpSpPr>
        <p:sp>
          <p:nvSpPr>
            <p:cNvPr id="10" name="Shape 10"/>
            <p:cNvSpPr/>
            <p:nvPr/>
          </p:nvSpPr>
          <p:spPr>
            <a:xfrm>
              <a:off x="8783636" y="444500"/>
              <a:ext cx="360362" cy="315277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50000">
                  <a:schemeClr val="hlink"/>
                </a:gs>
                <a:gs pos="50000">
                  <a:schemeClr val="hlink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0"/>
              <a:ext cx="9144000" cy="2133599"/>
            </a:xfrm>
            <a:custGeom>
              <a:avLst/>
              <a:gdLst/>
              <a:ahLst/>
              <a:cxnLst/>
              <a:rect l="0" t="0" r="0" b="0"/>
              <a:pathLst>
                <a:path w="5760" h="1104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0" y="1163637"/>
              <a:ext cx="9144000" cy="5694362"/>
            </a:xfrm>
            <a:custGeom>
              <a:avLst/>
              <a:gdLst/>
              <a:ahLst/>
              <a:cxnLst/>
              <a:rect l="0" t="0" r="0" b="0"/>
              <a:pathLst>
                <a:path w="5760" h="3587" extrusionOk="0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0" y="292100"/>
              <a:ext cx="9144000" cy="854075"/>
            </a:xfrm>
            <a:custGeom>
              <a:avLst/>
              <a:gdLst/>
              <a:ahLst/>
              <a:cxnLst/>
              <a:rect l="0" t="0" r="0" b="0"/>
              <a:pathLst>
                <a:path w="5760" h="538" extrusionOk="0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2"/>
                </a:gs>
                <a:gs pos="50000">
                  <a:schemeClr val="l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0" y="2405061"/>
              <a:ext cx="9144000" cy="1069975"/>
            </a:xfrm>
            <a:custGeom>
              <a:avLst/>
              <a:gdLst/>
              <a:ahLst/>
              <a:cxnLst/>
              <a:rect l="0" t="0" r="0" b="0"/>
              <a:pathLst>
                <a:path w="5760" h="674" extrusionOk="0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2476500" y="1522412"/>
              <a:ext cx="6667500" cy="5335586"/>
            </a:xfrm>
            <a:custGeom>
              <a:avLst/>
              <a:gdLst/>
              <a:ahLst/>
              <a:cxnLst/>
              <a:rect l="0" t="0" r="0" b="0"/>
              <a:pathLst>
                <a:path w="4200" h="3361" extrusionOk="0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6" name="Shape 16"/>
            <p:cNvSpPr/>
            <p:nvPr/>
          </p:nvSpPr>
          <p:spPr>
            <a:xfrm>
              <a:off x="0" y="3443287"/>
              <a:ext cx="9144000" cy="3055936"/>
            </a:xfrm>
            <a:custGeom>
              <a:avLst/>
              <a:gdLst/>
              <a:ahLst/>
              <a:cxnLst/>
              <a:rect l="0" t="0" r="0" b="0"/>
              <a:pathLst>
                <a:path w="5760" h="1925" extrusionOk="0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0" y="3552825"/>
              <a:ext cx="6237287" cy="3365500"/>
            </a:xfrm>
            <a:custGeom>
              <a:avLst/>
              <a:gdLst/>
              <a:ahLst/>
              <a:cxnLst/>
              <a:rect l="0" t="0" r="0" b="0"/>
              <a:pathLst>
                <a:path w="4196" h="2120" extrusionOk="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</p:sldLayoutIdLst>
  <p:hf sldNum="0" hd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981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0" dirty="0">
                <a:solidFill>
                  <a:srgbClr val="99FF66"/>
                </a:solidFill>
                <a:effectLst/>
                <a:latin typeface="Times New Roman" pitchFamily="18" charset="0"/>
                <a:cs typeface="Times New Roman" pitchFamily="18" charset="0"/>
              </a:rPr>
              <a:t>Data Structures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br>
              <a:rPr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60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Topic</a:t>
            </a:r>
            <a:r>
              <a:rPr lang="en-US" sz="36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Deletion in </a:t>
            </a:r>
            <a:r>
              <a:rPr lang="en-US" sz="3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AVL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Tree</a:t>
            </a:r>
            <a:endParaRPr lang="en-US" b="0" dirty="0">
              <a:solidFill>
                <a:schemeClr val="bg2">
                  <a:lumMod val="60000"/>
                  <a:lumOff val="4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3400" y="2971800"/>
            <a:ext cx="8077200" cy="3886200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8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sz="28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endParaRPr lang="en-US" sz="24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Asst. Professor,</a:t>
            </a: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Lovely Professional University, Punjab</a:t>
            </a:r>
          </a:p>
          <a:p>
            <a:pPr algn="ctr"/>
            <a:endParaRPr lang="en-US" dirty="0"/>
          </a:p>
        </p:txBody>
      </p:sp>
      <p:pic>
        <p:nvPicPr>
          <p:cNvPr id="11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2832162"/>
            <a:ext cx="2059006" cy="20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sz="4400" b="0" i="0" u="none" strike="noStrike" cap="none" baseline="0" dirty="0">
                <a:solidFill>
                  <a:srgbClr val="99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762000" y="1295400"/>
            <a:ext cx="7772400" cy="166195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dirty="0"/>
              <a:t> </a:t>
            </a:r>
            <a:r>
              <a:rPr lang="en" sz="3000" dirty="0"/>
              <a:t>Introduction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R0, R1 and R-1 Rotation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L0, L1 and L-1 Rotation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Introduction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066800"/>
            <a:ext cx="8229600" cy="535527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6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element can be deleted</a:t>
            </a:r>
            <a:r>
              <a:rPr lang="en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AVL tree which may change the BF of a node such that it results in unbalanced tree.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6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Some rotations will be applied on AVL tree to balance it.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0">
              <a:buSzPct val="98958"/>
            </a:pPr>
            <a:r>
              <a:rPr lang="en" sz="2600" dirty="0"/>
              <a:t> R rotation is applied if the deleted node is in the right subtree of node A (A is the node with balance factor other than 0, 1 and -1).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 rotation is applied if the deleted node is in the </a:t>
            </a:r>
            <a:r>
              <a:rPr lang="en" sz="2600" dirty="0"/>
              <a:t>lef</a:t>
            </a:r>
            <a:r>
              <a:rPr lang="en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subtree of node A.</a:t>
            </a:r>
            <a:endParaRPr lang="en" sz="26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Introduction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066800"/>
            <a:ext cx="8229600" cy="40010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6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Suppose we have deleted node X from the tree.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600" b="0" i="0" u="none" strike="noStrike" cap="none" baseline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600" dirty="0"/>
              <a:t> A is the closest ancestor node on the path from X to the root node, with a balance factor -2 or +2.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6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6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is the desendent of node A on the opposite subtree of deleted node i.e. if the deleted node is on left side the B is the desendent on the right subtree of A or the root of right subtree of A.  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20"/>
          <p:cNvSpPr>
            <a:spLocks noChangeArrowheads="1"/>
          </p:cNvSpPr>
          <p:nvPr/>
        </p:nvSpPr>
        <p:spPr bwMode="auto">
          <a:xfrm>
            <a:off x="3886200" y="1524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20</a:t>
            </a:r>
          </a:p>
        </p:txBody>
      </p:sp>
      <p:sp>
        <p:nvSpPr>
          <p:cNvPr id="6" name="Oval 21"/>
          <p:cNvSpPr>
            <a:spLocks noChangeArrowheads="1"/>
          </p:cNvSpPr>
          <p:nvPr/>
        </p:nvSpPr>
        <p:spPr bwMode="auto">
          <a:xfrm>
            <a:off x="2895600" y="2362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10</a:t>
            </a:r>
          </a:p>
        </p:txBody>
      </p:sp>
      <p:sp>
        <p:nvSpPr>
          <p:cNvPr id="7" name="Oval 22"/>
          <p:cNvSpPr>
            <a:spLocks noChangeArrowheads="1"/>
          </p:cNvSpPr>
          <p:nvPr/>
        </p:nvSpPr>
        <p:spPr bwMode="auto">
          <a:xfrm>
            <a:off x="4953000" y="24384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30</a:t>
            </a:r>
          </a:p>
        </p:txBody>
      </p:sp>
      <p:sp>
        <p:nvSpPr>
          <p:cNvPr id="8" name="Oval 23"/>
          <p:cNvSpPr>
            <a:spLocks noChangeArrowheads="1"/>
          </p:cNvSpPr>
          <p:nvPr/>
        </p:nvSpPr>
        <p:spPr bwMode="auto">
          <a:xfrm>
            <a:off x="4267200" y="3505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25</a:t>
            </a:r>
          </a:p>
        </p:txBody>
      </p:sp>
      <p:cxnSp>
        <p:nvCxnSpPr>
          <p:cNvPr id="9" name="AutoShape 24"/>
          <p:cNvCxnSpPr>
            <a:cxnSpLocks noChangeShapeType="1"/>
            <a:stCxn id="5" idx="3"/>
            <a:endCxn id="6" idx="7"/>
          </p:cNvCxnSpPr>
          <p:nvPr/>
        </p:nvCxnSpPr>
        <p:spPr bwMode="auto">
          <a:xfrm rot="5400000">
            <a:off x="3362045" y="1838045"/>
            <a:ext cx="514910" cy="6673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" name="AutoShape 25"/>
          <p:cNvCxnSpPr>
            <a:cxnSpLocks noChangeShapeType="1"/>
            <a:endCxn id="7" idx="1"/>
          </p:cNvCxnSpPr>
          <p:nvPr/>
        </p:nvCxnSpPr>
        <p:spPr bwMode="auto">
          <a:xfrm>
            <a:off x="4352925" y="1914525"/>
            <a:ext cx="667030" cy="5908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AutoShape 26"/>
          <p:cNvCxnSpPr>
            <a:cxnSpLocks noChangeShapeType="1"/>
            <a:stCxn id="7" idx="3"/>
            <a:endCxn id="8" idx="0"/>
          </p:cNvCxnSpPr>
          <p:nvPr/>
        </p:nvCxnSpPr>
        <p:spPr bwMode="auto">
          <a:xfrm rot="5400000">
            <a:off x="4419601" y="2904845"/>
            <a:ext cx="676555" cy="524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3048000" y="17526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3" name="Oval 28"/>
          <p:cNvSpPr>
            <a:spLocks noChangeArrowheads="1"/>
          </p:cNvSpPr>
          <p:nvPr/>
        </p:nvSpPr>
        <p:spPr bwMode="auto">
          <a:xfrm>
            <a:off x="5715000" y="3505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40</a:t>
            </a:r>
          </a:p>
        </p:txBody>
      </p:sp>
      <p:sp>
        <p:nvSpPr>
          <p:cNvPr id="14" name="Line 29"/>
          <p:cNvSpPr>
            <a:spLocks noChangeShapeType="1"/>
          </p:cNvSpPr>
          <p:nvPr/>
        </p:nvSpPr>
        <p:spPr bwMode="auto">
          <a:xfrm>
            <a:off x="5334000" y="28194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30"/>
          <p:cNvSpPr>
            <a:spLocks noChangeArrowheads="1"/>
          </p:cNvSpPr>
          <p:nvPr/>
        </p:nvSpPr>
        <p:spPr bwMode="auto">
          <a:xfrm>
            <a:off x="2057400" y="3429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5</a:t>
            </a:r>
          </a:p>
        </p:txBody>
      </p:sp>
      <p:sp>
        <p:nvSpPr>
          <p:cNvPr id="16" name="Line 31"/>
          <p:cNvSpPr>
            <a:spLocks noChangeShapeType="1"/>
          </p:cNvSpPr>
          <p:nvPr/>
        </p:nvSpPr>
        <p:spPr bwMode="auto">
          <a:xfrm flipH="1">
            <a:off x="2438400" y="28194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267200" y="25908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0</a:t>
            </a:r>
            <a:endParaRPr lang="en-US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8" name="Text Box 38"/>
          <p:cNvSpPr txBox="1">
            <a:spLocks noChangeArrowheads="1"/>
          </p:cNvSpPr>
          <p:nvPr/>
        </p:nvSpPr>
        <p:spPr bwMode="auto">
          <a:xfrm>
            <a:off x="5410200" y="17526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" name="Oval 44"/>
          <p:cNvSpPr>
            <a:spLocks noChangeArrowheads="1"/>
          </p:cNvSpPr>
          <p:nvPr/>
        </p:nvSpPr>
        <p:spPr bwMode="auto">
          <a:xfrm>
            <a:off x="4953000" y="4648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35</a:t>
            </a:r>
          </a:p>
        </p:txBody>
      </p:sp>
      <p:sp>
        <p:nvSpPr>
          <p:cNvPr id="20" name="Line 46"/>
          <p:cNvSpPr>
            <a:spLocks noChangeShapeType="1"/>
          </p:cNvSpPr>
          <p:nvPr/>
        </p:nvSpPr>
        <p:spPr bwMode="auto">
          <a:xfrm>
            <a:off x="6096000" y="3886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47"/>
          <p:cNvSpPr>
            <a:spLocks noChangeShapeType="1"/>
          </p:cNvSpPr>
          <p:nvPr/>
        </p:nvSpPr>
        <p:spPr bwMode="auto">
          <a:xfrm flipH="1">
            <a:off x="5334000" y="38862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48"/>
          <p:cNvSpPr txBox="1">
            <a:spLocks noChangeArrowheads="1"/>
          </p:cNvSpPr>
          <p:nvPr/>
        </p:nvSpPr>
        <p:spPr bwMode="auto">
          <a:xfrm>
            <a:off x="5029200" y="5147846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auto">
          <a:xfrm>
            <a:off x="6553200" y="5105400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2971800" y="2861846"/>
            <a:ext cx="28725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5" name="Oval 44"/>
          <p:cNvSpPr>
            <a:spLocks noChangeArrowheads="1"/>
          </p:cNvSpPr>
          <p:nvPr/>
        </p:nvSpPr>
        <p:spPr bwMode="auto">
          <a:xfrm>
            <a:off x="6477000" y="4648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45</a:t>
            </a:r>
          </a:p>
        </p:txBody>
      </p:sp>
      <p:sp>
        <p:nvSpPr>
          <p:cNvPr id="33" name="Text Box 50"/>
          <p:cNvSpPr txBox="1">
            <a:spLocks noChangeArrowheads="1"/>
          </p:cNvSpPr>
          <p:nvPr/>
        </p:nvSpPr>
        <p:spPr bwMode="auto">
          <a:xfrm>
            <a:off x="3962400" y="2023646"/>
            <a:ext cx="35618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-1</a:t>
            </a:r>
          </a:p>
        </p:txBody>
      </p:sp>
      <p:sp>
        <p:nvSpPr>
          <p:cNvPr id="34" name="Text Box 49"/>
          <p:cNvSpPr txBox="1">
            <a:spLocks noChangeArrowheads="1"/>
          </p:cNvSpPr>
          <p:nvPr/>
        </p:nvSpPr>
        <p:spPr bwMode="auto">
          <a:xfrm>
            <a:off x="2133600" y="3928646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791200" y="3962400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4343400" y="3962400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38" name="Text Box 50"/>
          <p:cNvSpPr txBox="1">
            <a:spLocks noChangeArrowheads="1"/>
          </p:cNvSpPr>
          <p:nvPr/>
        </p:nvSpPr>
        <p:spPr bwMode="auto">
          <a:xfrm>
            <a:off x="5029200" y="2895600"/>
            <a:ext cx="35618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1400" y="6858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Delete 5</a:t>
            </a:r>
            <a:endParaRPr lang="en-US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 animBg="1"/>
      <p:bldP spid="33" grpId="0"/>
      <p:bldP spid="34" grpId="0"/>
      <p:bldP spid="36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20"/>
          <p:cNvSpPr>
            <a:spLocks noChangeArrowheads="1"/>
          </p:cNvSpPr>
          <p:nvPr/>
        </p:nvSpPr>
        <p:spPr bwMode="auto">
          <a:xfrm>
            <a:off x="3886200" y="1524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20</a:t>
            </a:r>
          </a:p>
        </p:txBody>
      </p:sp>
      <p:sp>
        <p:nvSpPr>
          <p:cNvPr id="6" name="Oval 21"/>
          <p:cNvSpPr>
            <a:spLocks noChangeArrowheads="1"/>
          </p:cNvSpPr>
          <p:nvPr/>
        </p:nvSpPr>
        <p:spPr bwMode="auto">
          <a:xfrm>
            <a:off x="2895600" y="2362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10</a:t>
            </a:r>
          </a:p>
        </p:txBody>
      </p:sp>
      <p:sp>
        <p:nvSpPr>
          <p:cNvPr id="7" name="Oval 22"/>
          <p:cNvSpPr>
            <a:spLocks noChangeArrowheads="1"/>
          </p:cNvSpPr>
          <p:nvPr/>
        </p:nvSpPr>
        <p:spPr bwMode="auto">
          <a:xfrm>
            <a:off x="4953000" y="24384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30</a:t>
            </a:r>
          </a:p>
        </p:txBody>
      </p:sp>
      <p:sp>
        <p:nvSpPr>
          <p:cNvPr id="8" name="Oval 23"/>
          <p:cNvSpPr>
            <a:spLocks noChangeArrowheads="1"/>
          </p:cNvSpPr>
          <p:nvPr/>
        </p:nvSpPr>
        <p:spPr bwMode="auto">
          <a:xfrm>
            <a:off x="4267200" y="3505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25</a:t>
            </a:r>
          </a:p>
        </p:txBody>
      </p:sp>
      <p:cxnSp>
        <p:nvCxnSpPr>
          <p:cNvPr id="9" name="AutoShape 24"/>
          <p:cNvCxnSpPr>
            <a:cxnSpLocks noChangeShapeType="1"/>
            <a:stCxn id="5" idx="3"/>
            <a:endCxn id="6" idx="7"/>
          </p:cNvCxnSpPr>
          <p:nvPr/>
        </p:nvCxnSpPr>
        <p:spPr bwMode="auto">
          <a:xfrm rot="5400000">
            <a:off x="3362045" y="1838045"/>
            <a:ext cx="514910" cy="6673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" name="AutoShape 25"/>
          <p:cNvCxnSpPr>
            <a:cxnSpLocks noChangeShapeType="1"/>
            <a:endCxn id="7" idx="1"/>
          </p:cNvCxnSpPr>
          <p:nvPr/>
        </p:nvCxnSpPr>
        <p:spPr bwMode="auto">
          <a:xfrm>
            <a:off x="4352925" y="1914525"/>
            <a:ext cx="667030" cy="5908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AutoShape 26"/>
          <p:cNvCxnSpPr>
            <a:cxnSpLocks noChangeShapeType="1"/>
            <a:stCxn id="7" idx="3"/>
            <a:endCxn id="8" idx="0"/>
          </p:cNvCxnSpPr>
          <p:nvPr/>
        </p:nvCxnSpPr>
        <p:spPr bwMode="auto">
          <a:xfrm rot="5400000">
            <a:off x="4419601" y="2904845"/>
            <a:ext cx="676555" cy="5241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3048000" y="17526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3" name="Oval 28"/>
          <p:cNvSpPr>
            <a:spLocks noChangeArrowheads="1"/>
          </p:cNvSpPr>
          <p:nvPr/>
        </p:nvSpPr>
        <p:spPr bwMode="auto">
          <a:xfrm>
            <a:off x="5715000" y="3505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40</a:t>
            </a:r>
          </a:p>
        </p:txBody>
      </p:sp>
      <p:sp>
        <p:nvSpPr>
          <p:cNvPr id="14" name="Line 29"/>
          <p:cNvSpPr>
            <a:spLocks noChangeShapeType="1"/>
          </p:cNvSpPr>
          <p:nvPr/>
        </p:nvSpPr>
        <p:spPr bwMode="auto">
          <a:xfrm>
            <a:off x="5334000" y="2819400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4267200" y="25908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0</a:t>
            </a:r>
            <a:endParaRPr lang="en-US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8" name="Text Box 38"/>
          <p:cNvSpPr txBox="1">
            <a:spLocks noChangeArrowheads="1"/>
          </p:cNvSpPr>
          <p:nvPr/>
        </p:nvSpPr>
        <p:spPr bwMode="auto">
          <a:xfrm>
            <a:off x="5410200" y="1752600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" name="Oval 44"/>
          <p:cNvSpPr>
            <a:spLocks noChangeArrowheads="1"/>
          </p:cNvSpPr>
          <p:nvPr/>
        </p:nvSpPr>
        <p:spPr bwMode="auto">
          <a:xfrm>
            <a:off x="4953000" y="4648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35</a:t>
            </a:r>
          </a:p>
        </p:txBody>
      </p:sp>
      <p:sp>
        <p:nvSpPr>
          <p:cNvPr id="20" name="Line 46"/>
          <p:cNvSpPr>
            <a:spLocks noChangeShapeType="1"/>
          </p:cNvSpPr>
          <p:nvPr/>
        </p:nvSpPr>
        <p:spPr bwMode="auto">
          <a:xfrm>
            <a:off x="6096000" y="3886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47"/>
          <p:cNvSpPr>
            <a:spLocks noChangeShapeType="1"/>
          </p:cNvSpPr>
          <p:nvPr/>
        </p:nvSpPr>
        <p:spPr bwMode="auto">
          <a:xfrm flipH="1">
            <a:off x="5334000" y="38862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48"/>
          <p:cNvSpPr txBox="1">
            <a:spLocks noChangeArrowheads="1"/>
          </p:cNvSpPr>
          <p:nvPr/>
        </p:nvSpPr>
        <p:spPr bwMode="auto">
          <a:xfrm>
            <a:off x="5029200" y="5147846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auto">
          <a:xfrm>
            <a:off x="6553200" y="5105400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2971800" y="2861846"/>
            <a:ext cx="28725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5" name="Oval 44"/>
          <p:cNvSpPr>
            <a:spLocks noChangeArrowheads="1"/>
          </p:cNvSpPr>
          <p:nvPr/>
        </p:nvSpPr>
        <p:spPr bwMode="auto">
          <a:xfrm>
            <a:off x="6477000" y="4648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Times New Roman" pitchFamily="18" charset="0"/>
              </a:rPr>
              <a:t>45</a:t>
            </a:r>
          </a:p>
        </p:txBody>
      </p:sp>
      <p:sp>
        <p:nvSpPr>
          <p:cNvPr id="33" name="Text Box 50"/>
          <p:cNvSpPr txBox="1">
            <a:spLocks noChangeArrowheads="1"/>
          </p:cNvSpPr>
          <p:nvPr/>
        </p:nvSpPr>
        <p:spPr bwMode="auto">
          <a:xfrm>
            <a:off x="3962400" y="2023646"/>
            <a:ext cx="35618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-2</a:t>
            </a:r>
          </a:p>
        </p:txBody>
      </p:sp>
      <p:sp>
        <p:nvSpPr>
          <p:cNvPr id="36" name="Text Box 48"/>
          <p:cNvSpPr txBox="1">
            <a:spLocks noChangeArrowheads="1"/>
          </p:cNvSpPr>
          <p:nvPr/>
        </p:nvSpPr>
        <p:spPr bwMode="auto">
          <a:xfrm>
            <a:off x="5791200" y="3962400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37" name="Text Box 48"/>
          <p:cNvSpPr txBox="1">
            <a:spLocks noChangeArrowheads="1"/>
          </p:cNvSpPr>
          <p:nvPr/>
        </p:nvSpPr>
        <p:spPr bwMode="auto">
          <a:xfrm>
            <a:off x="4343400" y="3962400"/>
            <a:ext cx="3111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38" name="Text Box 50"/>
          <p:cNvSpPr txBox="1">
            <a:spLocks noChangeArrowheads="1"/>
          </p:cNvSpPr>
          <p:nvPr/>
        </p:nvSpPr>
        <p:spPr bwMode="auto">
          <a:xfrm>
            <a:off x="5029200" y="2895600"/>
            <a:ext cx="35618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</a:rPr>
              <a:t>-1</a:t>
            </a:r>
          </a:p>
        </p:txBody>
      </p:sp>
      <p:sp>
        <p:nvSpPr>
          <p:cNvPr id="28" name="Text Box 50"/>
          <p:cNvSpPr txBox="1">
            <a:spLocks noChangeArrowheads="1"/>
          </p:cNvSpPr>
          <p:nvPr/>
        </p:nvSpPr>
        <p:spPr bwMode="auto">
          <a:xfrm>
            <a:off x="4393116" y="1447800"/>
            <a:ext cx="40748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CFFCC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29" name="Text Box 50"/>
          <p:cNvSpPr txBox="1">
            <a:spLocks noChangeArrowheads="1"/>
          </p:cNvSpPr>
          <p:nvPr/>
        </p:nvSpPr>
        <p:spPr bwMode="auto">
          <a:xfrm>
            <a:off x="5477550" y="2433935"/>
            <a:ext cx="3898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CFFCC"/>
                </a:solidFill>
                <a:latin typeface="Times New Roman" pitchFamily="18" charset="0"/>
              </a:rPr>
              <a:t>B</a:t>
            </a:r>
            <a:endParaRPr lang="en-US" sz="1600" b="1" dirty="0">
              <a:solidFill>
                <a:srgbClr val="CCFFCC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R Rotation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610932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Rotation is applied whe</a:t>
            </a:r>
            <a:r>
              <a:rPr lang="en" sz="2400" baseline="0" dirty="0"/>
              <a:t>n</a:t>
            </a:r>
            <a:r>
              <a:rPr lang="en" sz="2400" dirty="0"/>
              <a:t> the deleted node is in the right subtree of node 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are three diff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 types of rotations based on the balanced factor of node B.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4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 b="1" i="0" u="none" strike="noStrike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 Rotation: </a:t>
            </a: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balance Factor of node B is 0.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dirty="0">
                <a:solidFill>
                  <a:srgbClr val="FFFFFF"/>
                </a:solidFill>
              </a:rPr>
              <a:t> Apply LL Rotation on node A.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</a:t>
            </a:r>
            <a:r>
              <a:rPr lang="en" sz="2400" b="1" dirty="0">
                <a:solidFill>
                  <a:srgbClr val="FFFF00"/>
                </a:solidFill>
              </a:rPr>
              <a:t>R1 Rotation: </a:t>
            </a:r>
            <a:r>
              <a:rPr lang="en" sz="2400" dirty="0">
                <a:solidFill>
                  <a:srgbClr val="FFFFFF"/>
                </a:solidFill>
              </a:rPr>
              <a:t>When the balance Factor of node B is +1. 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Apply LL Rotation on node A.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</a:t>
            </a:r>
            <a:r>
              <a:rPr lang="en" sz="2400" b="1" dirty="0">
                <a:solidFill>
                  <a:srgbClr val="FFFF00"/>
                </a:solidFill>
              </a:rPr>
              <a:t>R-1 Rotation: </a:t>
            </a:r>
            <a:r>
              <a:rPr lang="en" sz="2400" dirty="0">
                <a:solidFill>
                  <a:srgbClr val="FFFFFF"/>
                </a:solidFill>
              </a:rPr>
              <a:t>When the balance Factor of node B is -1. 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Apply LR Rotation(RR rotation on B and LL rotation on node A).</a:t>
            </a:r>
          </a:p>
          <a:p>
            <a:pPr lvl="0" indent="0">
              <a:buSzPct val="98958"/>
            </a:pPr>
            <a:endParaRPr lang="en" sz="24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4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L Rotation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521677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 dirty="0"/>
              <a:t>L</a:t>
            </a:r>
            <a:r>
              <a:rPr lang="en" sz="2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Rotation is applied whe</a:t>
            </a:r>
            <a:r>
              <a:rPr lang="en" sz="2400" baseline="0" dirty="0"/>
              <a:t>n</a:t>
            </a:r>
            <a:r>
              <a:rPr lang="en" sz="2400" dirty="0"/>
              <a:t> the deleted node is in the left subtree of node 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are three diff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 types of rotations based on the balanced factor of node B.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400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 b="1" dirty="0">
                <a:solidFill>
                  <a:srgbClr val="FFFF00"/>
                </a:solidFill>
              </a:rPr>
              <a:t>L</a:t>
            </a:r>
            <a:r>
              <a:rPr lang="en" sz="2400" b="1" i="0" u="none" strike="noStrike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Rotation: </a:t>
            </a:r>
            <a:r>
              <a:rPr lang="en" sz="2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balance Factor of node B is 0.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dirty="0">
                <a:solidFill>
                  <a:srgbClr val="FFFFFF"/>
                </a:solidFill>
              </a:rPr>
              <a:t> Apply RR Rotation on node A.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</a:t>
            </a:r>
            <a:r>
              <a:rPr lang="en" sz="2400" b="1" dirty="0">
                <a:solidFill>
                  <a:srgbClr val="FFFF00"/>
                </a:solidFill>
              </a:rPr>
              <a:t>L-1 Rotation: </a:t>
            </a:r>
            <a:r>
              <a:rPr lang="en" sz="2400" dirty="0">
                <a:solidFill>
                  <a:srgbClr val="FFFFFF"/>
                </a:solidFill>
              </a:rPr>
              <a:t>When the balance Factor of node B is -1. 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Apply RR Rotation on node A.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</a:t>
            </a:r>
            <a:r>
              <a:rPr lang="en" sz="2400" b="1" dirty="0">
                <a:solidFill>
                  <a:srgbClr val="FFFF00"/>
                </a:solidFill>
              </a:rPr>
              <a:t>L1 Rotation: </a:t>
            </a:r>
            <a:r>
              <a:rPr lang="en" sz="2400" dirty="0">
                <a:solidFill>
                  <a:srgbClr val="FFFFFF"/>
                </a:solidFill>
              </a:rPr>
              <a:t>When the balance Factor of node B is 1. </a:t>
            </a:r>
          </a:p>
          <a:p>
            <a:pPr lvl="0" indent="0">
              <a:buSzPct val="98958"/>
            </a:pPr>
            <a:r>
              <a:rPr lang="en" sz="2400" dirty="0">
                <a:solidFill>
                  <a:srgbClr val="FFFFFF"/>
                </a:solidFill>
              </a:rPr>
              <a:t> Apply RL Rotation(LL rotation on B and RR rotation on node A).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4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Unlike insertion, fixing the node A won’t fix the complete </a:t>
            </a:r>
            <a:r>
              <a:rPr lang="en-US" dirty="0" err="1"/>
              <a:t>AVL</a:t>
            </a:r>
            <a:r>
              <a:rPr lang="en-US" dirty="0"/>
              <a:t> tree.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 After fixing A, we may have to fix ancestors of A as well.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5029200"/>
            <a:ext cx="51816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CFFCC"/>
                </a:solidFill>
              </a:rPr>
              <a:t> Questions</a:t>
            </a:r>
          </a:p>
        </p:txBody>
      </p:sp>
      <p:pic>
        <p:nvPicPr>
          <p:cNvPr id="4" name="Content Placeholder 3" descr="faq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1143000"/>
            <a:ext cx="4038600" cy="3962400"/>
          </a:xfrm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>
  <a:themeElements>
    <a:clrScheme name="리본.pot 1">
      <a:dk1>
        <a:srgbClr val="FFFFCC"/>
      </a:dk1>
      <a:lt1>
        <a:srgbClr val="660033"/>
      </a:lt1>
      <a:dk2>
        <a:srgbClr val="FFCC00"/>
      </a:dk2>
      <a:lt2>
        <a:srgbClr val="220011"/>
      </a:lt2>
      <a:accent1>
        <a:srgbClr val="CC0099"/>
      </a:accent1>
      <a:accent2>
        <a:srgbClr val="56002B"/>
      </a:accent2>
      <a:accent3>
        <a:srgbClr val="660033"/>
      </a:accent3>
      <a:accent4>
        <a:srgbClr val="CC0099"/>
      </a:accent4>
      <a:accent5>
        <a:srgbClr val="56002B"/>
      </a:accent5>
      <a:accent6>
        <a:srgbClr val="660033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2809</TotalTime>
  <Words>774</Words>
  <Application>Microsoft Macintosh PowerPoint</Application>
  <PresentationFormat>On-screen Show (4:3)</PresentationFormat>
  <Paragraphs>150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/>
      <vt:lpstr>Data Structures  Topic: Deletion in AVL Tree</vt:lpstr>
      <vt:lpstr>Contents</vt:lpstr>
      <vt:lpstr>Introduction</vt:lpstr>
      <vt:lpstr>Introduction</vt:lpstr>
      <vt:lpstr>PowerPoint Presentation</vt:lpstr>
      <vt:lpstr>PowerPoint Presentation</vt:lpstr>
      <vt:lpstr>R Rotation</vt:lpstr>
      <vt:lpstr>L Rotation</vt:lpstr>
      <vt:lpstr>Important</vt:lpstr>
      <vt:lpstr>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History of Java</dc:title>
  <dc:creator>RA-V</dc:creator>
  <cp:lastModifiedBy>Jeevan Bala</cp:lastModifiedBy>
  <cp:revision>65</cp:revision>
  <dcterms:modified xsi:type="dcterms:W3CDTF">2021-11-24T05:56:32Z</dcterms:modified>
</cp:coreProperties>
</file>