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8"/>
  </p:notesMasterIdLst>
  <p:sldIdLst>
    <p:sldId id="256" r:id="rId2"/>
    <p:sldId id="257" r:id="rId3"/>
    <p:sldId id="322" r:id="rId4"/>
    <p:sldId id="323" r:id="rId5"/>
    <p:sldId id="325" r:id="rId6"/>
    <p:sldId id="319" r:id="rId7"/>
    <p:sldId id="300" r:id="rId8"/>
    <p:sldId id="320" r:id="rId9"/>
    <p:sldId id="324" r:id="rId10"/>
    <p:sldId id="315" r:id="rId11"/>
    <p:sldId id="321" r:id="rId12"/>
    <p:sldId id="316" r:id="rId13"/>
    <p:sldId id="317" r:id="rId14"/>
    <p:sldId id="326" r:id="rId15"/>
    <p:sldId id="266" r:id="rId16"/>
    <p:sldId id="309" r:id="rId17"/>
  </p:sldIdLst>
  <p:sldSz cx="9144000" cy="6858000" type="screen4x3"/>
  <p:notesSz cx="6646863" cy="9777413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arry.westenberg" initials="l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CFFCC"/>
    <a:srgbClr val="FFFF53"/>
    <a:srgbClr val="66FFCC"/>
    <a:srgbClr val="99FF66"/>
    <a:srgbClr val="FFDA3F"/>
    <a:srgbClr val="42EF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765550" y="0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" name="Shape 4"/>
          <p:cNvSpPr>
            <a:spLocks noGrp="1" noRot="1" noChangeAspect="1"/>
          </p:cNvSpPr>
          <p:nvPr>
            <p:ph type="sldImg" idx="3"/>
          </p:nvPr>
        </p:nvSpPr>
        <p:spPr>
          <a:xfrm>
            <a:off x="881062" y="733425"/>
            <a:ext cx="4886325" cy="366553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endParaRPr lang="en" sz="1800" b="0" i="0" u="none" strike="noStrike" cap="none" baseline="0" dirty="0"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4321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1903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8757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4539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4848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/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/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title" idx="2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Ravi Kant Sahu, Asst. Professor @ LPU Phagwara (Punjab) India</a:t>
            </a:r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indent="-1778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/>
            </a:lvl2pPr>
            <a:lvl3pPr marL="1143000" indent="-136525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/>
            </a:lvl3pPr>
            <a:lvl4pPr marL="16002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4pPr>
            <a:lvl5pPr marL="20574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5pPr>
            <a:lvl6pPr marL="25146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762000" y="1600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indent="-1778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/>
            </a:lvl2pPr>
            <a:lvl3pPr marL="1143000" indent="-136525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/>
            </a:lvl3pPr>
            <a:lvl4pPr marL="16002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4pPr>
            <a:lvl5pPr marL="20574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5pPr>
            <a:lvl6pPr marL="25146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Ravi Kant Sahu, Asst. Professor @ LPU Phagwara (Punjab) India</a:t>
            </a:r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AB0503-4E0C-42D7-842F-D72E5512277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 9"/>
          <p:cNvGrpSpPr/>
          <p:nvPr/>
        </p:nvGrpSpPr>
        <p:grpSpPr>
          <a:xfrm>
            <a:off x="0" y="0"/>
            <a:ext cx="9144000" cy="6918325"/>
            <a:chOff x="0" y="0"/>
            <a:chExt cx="9144000" cy="6918325"/>
          </a:xfrm>
        </p:grpSpPr>
        <p:sp>
          <p:nvSpPr>
            <p:cNvPr id="10" name="Shape 10"/>
            <p:cNvSpPr/>
            <p:nvPr/>
          </p:nvSpPr>
          <p:spPr>
            <a:xfrm>
              <a:off x="8783636" y="444500"/>
              <a:ext cx="360362" cy="315277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50000">
                  <a:schemeClr val="hlink"/>
                </a:gs>
                <a:gs pos="50000">
                  <a:schemeClr val="hlink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1" name="Shape 11"/>
            <p:cNvSpPr/>
            <p:nvPr/>
          </p:nvSpPr>
          <p:spPr>
            <a:xfrm>
              <a:off x="0" y="0"/>
              <a:ext cx="9144000" cy="2133599"/>
            </a:xfrm>
            <a:custGeom>
              <a:avLst/>
              <a:gdLst/>
              <a:ahLst/>
              <a:cxnLst/>
              <a:rect l="0" t="0" r="0" b="0"/>
              <a:pathLst>
                <a:path w="5760" h="1104" extrusionOk="0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2" name="Shape 12"/>
            <p:cNvSpPr/>
            <p:nvPr/>
          </p:nvSpPr>
          <p:spPr>
            <a:xfrm>
              <a:off x="0" y="1163637"/>
              <a:ext cx="9144000" cy="5694362"/>
            </a:xfrm>
            <a:custGeom>
              <a:avLst/>
              <a:gdLst/>
              <a:ahLst/>
              <a:cxnLst/>
              <a:rect l="0" t="0" r="0" b="0"/>
              <a:pathLst>
                <a:path w="5760" h="3587" extrusionOk="0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0" y="292100"/>
              <a:ext cx="9144000" cy="854075"/>
            </a:xfrm>
            <a:custGeom>
              <a:avLst/>
              <a:gdLst/>
              <a:ahLst/>
              <a:cxnLst/>
              <a:rect l="0" t="0" r="0" b="0"/>
              <a:pathLst>
                <a:path w="5760" h="538" extrusionOk="0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2"/>
                </a:gs>
                <a:gs pos="50000">
                  <a:schemeClr val="lt2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4" name="Shape 14"/>
            <p:cNvSpPr/>
            <p:nvPr/>
          </p:nvSpPr>
          <p:spPr>
            <a:xfrm>
              <a:off x="0" y="2405061"/>
              <a:ext cx="9144000" cy="1069975"/>
            </a:xfrm>
            <a:custGeom>
              <a:avLst/>
              <a:gdLst/>
              <a:ahLst/>
              <a:cxnLst/>
              <a:rect l="0" t="0" r="0" b="0"/>
              <a:pathLst>
                <a:path w="5760" h="674" extrusionOk="0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accent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5" name="Shape 15"/>
            <p:cNvSpPr/>
            <p:nvPr/>
          </p:nvSpPr>
          <p:spPr>
            <a:xfrm>
              <a:off x="2476500" y="1522412"/>
              <a:ext cx="6667500" cy="5335586"/>
            </a:xfrm>
            <a:custGeom>
              <a:avLst/>
              <a:gdLst/>
              <a:ahLst/>
              <a:cxnLst/>
              <a:rect l="0" t="0" r="0" b="0"/>
              <a:pathLst>
                <a:path w="4200" h="3361" extrusionOk="0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6" name="Shape 16"/>
            <p:cNvSpPr/>
            <p:nvPr/>
          </p:nvSpPr>
          <p:spPr>
            <a:xfrm>
              <a:off x="0" y="3443287"/>
              <a:ext cx="9144000" cy="3055936"/>
            </a:xfrm>
            <a:custGeom>
              <a:avLst/>
              <a:gdLst/>
              <a:ahLst/>
              <a:cxnLst/>
              <a:rect l="0" t="0" r="0" b="0"/>
              <a:pathLst>
                <a:path w="5760" h="1925" extrusionOk="0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accent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7" name="Shape 17"/>
            <p:cNvSpPr/>
            <p:nvPr/>
          </p:nvSpPr>
          <p:spPr>
            <a:xfrm>
              <a:off x="0" y="3552825"/>
              <a:ext cx="6237287" cy="3365500"/>
            </a:xfrm>
            <a:custGeom>
              <a:avLst/>
              <a:gdLst/>
              <a:ahLst/>
              <a:cxnLst/>
              <a:rect l="0" t="0" r="0" b="0"/>
              <a:pathLst>
                <a:path w="4196" h="2120" extrusionOk="0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Ravi Kant Sahu, Asst. Professor @ LPU Phagwara (Punjab) India</a:t>
            </a:r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/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/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</p:sldLayoutIdLst>
  <p:hf sldNum="0" hd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981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0" dirty="0">
                <a:solidFill>
                  <a:srgbClr val="99FF66"/>
                </a:solidFill>
                <a:effectLst/>
                <a:latin typeface="Times New Roman" pitchFamily="18" charset="0"/>
                <a:cs typeface="Times New Roman" pitchFamily="18" charset="0"/>
              </a:rPr>
              <a:t>Data Structures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br>
              <a:rPr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36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Topic: 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Binary Search Tree </a:t>
            </a:r>
            <a:endParaRPr lang="en-US" b="0" dirty="0">
              <a:solidFill>
                <a:schemeClr val="bg2">
                  <a:lumMod val="60000"/>
                  <a:lumOff val="4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33400" y="2971800"/>
            <a:ext cx="8077200" cy="3886200"/>
          </a:xfrm>
        </p:spPr>
        <p:txBody>
          <a:bodyPr>
            <a:normAutofit lnSpcReduction="10000"/>
          </a:bodyPr>
          <a:lstStyle/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8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endParaRPr lang="en-US" sz="28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endParaRPr lang="en-US" sz="24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400" i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Asst. Professor,</a:t>
            </a: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Lovely Professional University, Punjab</a:t>
            </a:r>
          </a:p>
          <a:p>
            <a:pPr algn="ctr"/>
            <a:endParaRPr lang="en-US" dirty="0"/>
          </a:p>
        </p:txBody>
      </p:sp>
      <p:pic>
        <p:nvPicPr>
          <p:cNvPr id="11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2832162"/>
            <a:ext cx="2059006" cy="20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sz="4400" b="0" i="0" u="none" strike="noStrike" cap="none" baseline="0" dirty="0">
                <a:solidFill>
                  <a:srgbClr val="99FF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762000" y="1143000"/>
            <a:ext cx="7772400" cy="273917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dirty="0"/>
              <a:t> </a:t>
            </a:r>
            <a:r>
              <a:rPr lang="en" sz="3000" dirty="0"/>
              <a:t>Introduction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dirty="0"/>
              <a:t> Searching in BST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dirty="0"/>
              <a:t> Insertion in BST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dirty="0"/>
              <a:t> Deletion in BST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Questions</a:t>
            </a:r>
            <a:endParaRPr lang="en" sz="3200" b="0" i="0" u="none" strike="noStrike" cap="none" baseline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297399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Binary Search Tree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00" y="1217276"/>
            <a:ext cx="8382000" cy="440116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lvl="0" indent="0">
              <a:buSzPct val="98958"/>
              <a:buNone/>
            </a:pPr>
            <a:r>
              <a:rPr lang="en-US" sz="2400" dirty="0">
                <a:solidFill>
                  <a:srgbClr val="FFFFFF"/>
                </a:solidFill>
              </a:rPr>
              <a:t>Binary Search Tree is a Binary Tree which has the following properties:</a:t>
            </a:r>
          </a:p>
          <a:p>
            <a:pPr lvl="0" indent="0">
              <a:buSzPct val="98958"/>
              <a:buNone/>
            </a:pPr>
            <a:endParaRPr lang="en-US" sz="2400" dirty="0">
              <a:solidFill>
                <a:srgbClr val="FFFFFF"/>
              </a:solidFill>
            </a:endParaRPr>
          </a:p>
          <a:p>
            <a:pPr marL="457200" lvl="0" indent="-457200">
              <a:buSzPct val="98958"/>
              <a:buAutoNum type="arabicPeriod"/>
            </a:pPr>
            <a:r>
              <a:rPr lang="en-US" sz="2400" dirty="0">
                <a:solidFill>
                  <a:srgbClr val="FFFFFF"/>
                </a:solidFill>
              </a:rPr>
              <a:t>The left subtree of a node N </a:t>
            </a:r>
          </a:p>
          <a:p>
            <a:pPr lvl="0" indent="0">
              <a:buSzPct val="98958"/>
              <a:buNone/>
            </a:pPr>
            <a:r>
              <a:rPr lang="en-US" sz="2400" dirty="0">
                <a:solidFill>
                  <a:srgbClr val="FFFFFF"/>
                </a:solidFill>
              </a:rPr>
              <a:t>contains only nodes with keys lesser </a:t>
            </a:r>
          </a:p>
          <a:p>
            <a:pPr lvl="0" indent="0">
              <a:buSzPct val="98958"/>
              <a:buNone/>
            </a:pPr>
            <a:r>
              <a:rPr lang="en-US" sz="2400" dirty="0">
                <a:solidFill>
                  <a:srgbClr val="FFFFFF"/>
                </a:solidFill>
              </a:rPr>
              <a:t>than the node’s key.</a:t>
            </a:r>
          </a:p>
          <a:p>
            <a:pPr lvl="0" indent="0">
              <a:buSzPct val="98958"/>
              <a:buNone/>
            </a:pPr>
            <a:endParaRPr lang="en-US" sz="2400" dirty="0">
              <a:solidFill>
                <a:srgbClr val="FFFFFF"/>
              </a:solidFill>
            </a:endParaRPr>
          </a:p>
          <a:p>
            <a:pPr lvl="0" indent="0">
              <a:buSzPct val="98958"/>
              <a:buNone/>
            </a:pPr>
            <a:r>
              <a:rPr lang="en-US" sz="2400" dirty="0">
                <a:solidFill>
                  <a:srgbClr val="FFFFFF"/>
                </a:solidFill>
              </a:rPr>
              <a:t>2. The right subtree of a node N </a:t>
            </a:r>
          </a:p>
          <a:p>
            <a:pPr lvl="0" indent="0">
              <a:buSzPct val="98958"/>
              <a:buNone/>
            </a:pPr>
            <a:r>
              <a:rPr lang="en-US" sz="2400" dirty="0">
                <a:solidFill>
                  <a:srgbClr val="FFFFFF"/>
                </a:solidFill>
              </a:rPr>
              <a:t>contains only nodes with keys greater </a:t>
            </a:r>
          </a:p>
          <a:p>
            <a:pPr lvl="0" indent="0">
              <a:buSzPct val="98958"/>
              <a:buNone/>
            </a:pPr>
            <a:r>
              <a:rPr lang="en-US" sz="2400" dirty="0">
                <a:solidFill>
                  <a:srgbClr val="FFFFFF"/>
                </a:solidFill>
              </a:rPr>
              <a:t>than the node’s key.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A1314D-5DFC-4043-AE95-B0EDE152F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981200"/>
            <a:ext cx="3600450" cy="39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4460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Binary Search Tree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00" y="1217276"/>
            <a:ext cx="8382000" cy="246217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lvl="0" indent="0">
              <a:buSzPct val="98958"/>
              <a:buNone/>
            </a:pPr>
            <a:r>
              <a:rPr lang="en-US" sz="2400" dirty="0" err="1">
                <a:solidFill>
                  <a:srgbClr val="FFFFFF"/>
                </a:solidFill>
              </a:rPr>
              <a:t>Inorder</a:t>
            </a:r>
            <a:r>
              <a:rPr lang="en-US" sz="2400" dirty="0">
                <a:solidFill>
                  <a:srgbClr val="FFFFFF"/>
                </a:solidFill>
              </a:rPr>
              <a:t> Traversal of a Binary Search Tree always gives the sorted sequence of all the Keys.</a:t>
            </a:r>
          </a:p>
          <a:p>
            <a:pPr lvl="0" indent="0">
              <a:buSzPct val="98958"/>
              <a:buNone/>
            </a:pPr>
            <a:endParaRPr lang="en-US" sz="2400" dirty="0">
              <a:solidFill>
                <a:srgbClr val="FFFFFF"/>
              </a:solidFill>
            </a:endParaRPr>
          </a:p>
          <a:p>
            <a:pPr lvl="0" indent="0">
              <a:buSzPct val="98958"/>
              <a:buNone/>
            </a:pPr>
            <a:r>
              <a:rPr lang="en-US" sz="2400" dirty="0">
                <a:solidFill>
                  <a:srgbClr val="FFFFFF"/>
                </a:solidFill>
              </a:rPr>
              <a:t>It means that if the Keys of any BST is known then </a:t>
            </a:r>
            <a:r>
              <a:rPr lang="en-US" sz="2400" dirty="0" err="1">
                <a:solidFill>
                  <a:srgbClr val="FFFFFF"/>
                </a:solidFill>
              </a:rPr>
              <a:t>Inorder</a:t>
            </a:r>
            <a:r>
              <a:rPr lang="en-US" sz="2400" dirty="0">
                <a:solidFill>
                  <a:srgbClr val="FFFFFF"/>
                </a:solidFill>
              </a:rPr>
              <a:t> Traversal can be directly obtained by Sorting the Keys in ascending order.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  <p:extLst>
      <p:ext uri="{BB962C8B-B14F-4D97-AF65-F5344CB8AC3E}">
        <p14:creationId xmlns:p14="http://schemas.microsoft.com/office/powerpoint/2010/main" val="41188775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23900" y="259011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Exercise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7848600" cy="269300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lvl="0" indent="0">
              <a:buSzPct val="98958"/>
              <a:buNone/>
            </a:pPr>
            <a:r>
              <a:rPr lang="en" sz="2400" dirty="0"/>
              <a:t>Given the Postorder Traversal of a Binary Search Tree:</a:t>
            </a:r>
          </a:p>
          <a:p>
            <a:pPr lvl="0" indent="0">
              <a:buSzPct val="98958"/>
              <a:buNone/>
            </a:pPr>
            <a:endParaRPr lang="en" sz="2400" dirty="0"/>
          </a:p>
          <a:p>
            <a:pPr lvl="0" indent="0">
              <a:buSzPct val="98958"/>
              <a:buNone/>
            </a:pPr>
            <a:r>
              <a:rPr lang="en" sz="2400" dirty="0"/>
              <a:t>Postorder: 35, 40, 30, 65, 60, 80, 70, 50</a:t>
            </a:r>
          </a:p>
          <a:p>
            <a:pPr lvl="0" indent="0">
              <a:buSzPct val="98958"/>
              <a:buNone/>
            </a:pPr>
            <a:endParaRPr lang="en" sz="2400" dirty="0"/>
          </a:p>
          <a:p>
            <a:pPr lvl="0" indent="0">
              <a:buSzPct val="98958"/>
              <a:buNone/>
            </a:pPr>
            <a:r>
              <a:rPr lang="en" sz="2400" dirty="0"/>
              <a:t>Find the Preorder Traversal of the BST.</a:t>
            </a:r>
          </a:p>
          <a:p>
            <a:pPr lvl="0" indent="0">
              <a:buSzPct val="98958"/>
              <a:buNone/>
            </a:pPr>
            <a:endParaRPr lang="en" sz="2400" dirty="0"/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  <p:extLst>
      <p:ext uri="{BB962C8B-B14F-4D97-AF65-F5344CB8AC3E}">
        <p14:creationId xmlns:p14="http://schemas.microsoft.com/office/powerpoint/2010/main" val="3292153203"/>
      </p:ext>
    </p:extLst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Searching in BST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1219200" y="904052"/>
            <a:ext cx="7620000" cy="580154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400" dirty="0"/>
              <a:t>SEARCH_BST(INFO, LEFT, RIGHT, ROOT, ITEM, LOC)</a:t>
            </a:r>
            <a:br>
              <a:rPr lang="en" sz="2400" dirty="0"/>
            </a:br>
            <a:endParaRPr lang="en" sz="2400" dirty="0"/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dirty="0">
                <a:solidFill>
                  <a:srgbClr val="FFFFFF"/>
                </a:solidFill>
              </a:rPr>
              <a:t>Set PTR = ROOT and LOC = NULL.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dirty="0">
                <a:solidFill>
                  <a:srgbClr val="FFFFFF"/>
                </a:solidFill>
              </a:rPr>
              <a:t>Repeate step 3 while PTR!= NULL: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ITEM = INFO [PTR],</a:t>
            </a: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then:</a:t>
            </a:r>
            <a:b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Set LOC = PTR and Exit. </a:t>
            </a:r>
            <a:br>
              <a:rPr lang="en" sz="24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  ITEM &lt; INFO[PTR], then: </a:t>
            </a:r>
            <a:br>
              <a:rPr lang="en" sz="24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Set PTR = LEFT [PTR].</a:t>
            </a:r>
            <a:endParaRPr lang="en" sz="24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400" dirty="0">
                <a:solidFill>
                  <a:srgbClr val="FFFFFF"/>
                </a:solidFill>
              </a:rPr>
              <a:t>        else </a:t>
            </a:r>
            <a:br>
              <a:rPr lang="en" sz="2400" dirty="0">
                <a:solidFill>
                  <a:srgbClr val="FFFFFF"/>
                </a:solidFill>
              </a:rPr>
            </a:br>
            <a:r>
              <a:rPr lang="en" sz="2400" dirty="0">
                <a:solidFill>
                  <a:srgbClr val="FFFFFF"/>
                </a:solidFill>
              </a:rPr>
              <a:t>     Set PTR = RIGHT [PTR].</a:t>
            </a:r>
            <a:br>
              <a:rPr lang="en" sz="2400" dirty="0">
                <a:solidFill>
                  <a:srgbClr val="FFFFFF"/>
                </a:solidFill>
              </a:rPr>
            </a:br>
            <a:r>
              <a:rPr lang="en" sz="2400" dirty="0">
                <a:solidFill>
                  <a:srgbClr val="FFFFFF"/>
                </a:solidFill>
              </a:rPr>
              <a:t>[End of Loop]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 startAt="4"/>
            </a:pPr>
            <a:r>
              <a:rPr lang="en" sz="2400" dirty="0">
                <a:solidFill>
                  <a:srgbClr val="FFFFFF"/>
                </a:solidFill>
              </a:rPr>
              <a:t>If LOC = NULL, then Write “Search unsuccessful”.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 startAt="4"/>
            </a:pPr>
            <a:r>
              <a:rPr lang="en" sz="2400" dirty="0">
                <a:solidFill>
                  <a:srgbClr val="FFFFFF"/>
                </a:solidFill>
              </a:rPr>
              <a:t>Return LOC.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4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Insertion in BST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1219200" y="762000"/>
            <a:ext cx="7620000" cy="547838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000" dirty="0"/>
              <a:t>INS_BST(INFO, LEFT, RIGHT, ROOT, AVAIL, ITEM, LOC)</a:t>
            </a:r>
            <a:br>
              <a:rPr lang="en" sz="2000" dirty="0"/>
            </a:br>
            <a:endParaRPr lang="en" sz="2000" dirty="0"/>
          </a:p>
          <a:p>
            <a:pPr marL="514350" lvl="0" indent="-514350">
              <a:buSzPct val="98958"/>
              <a:buAutoNum type="arabicPeriod"/>
            </a:pPr>
            <a:r>
              <a:rPr lang="en" sz="2000" dirty="0"/>
              <a:t>If AVAIL = NULL, then: Write “OVERFLOW” and Exit.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FIND (INFO, LEFT, RIGHT, ROOT, ITEM, LOC, PAR)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000" dirty="0"/>
              <a:t>If LOC != NULL, then Exit.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[Ccreate NEW Node]</a:t>
            </a:r>
            <a:br>
              <a:rPr lang="e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Set NEW = AVAIL, AVAIL = LEFT[AVAIL] and INFO[NEW] = ITEM.</a:t>
            </a:r>
            <a:br>
              <a:rPr lang="e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Set LEFT[NEW] = NULL and RIGHT[NEW] = NULL.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000" dirty="0"/>
              <a:t>[Add ITEM to Tree]</a:t>
            </a:r>
            <a:br>
              <a:rPr lang="en" sz="2000" dirty="0"/>
            </a:br>
            <a:r>
              <a:rPr lang="en" sz="2000" dirty="0"/>
              <a:t>If PAR = NULL, then</a:t>
            </a:r>
            <a:br>
              <a:rPr lang="en" sz="2000" dirty="0"/>
            </a:br>
            <a:r>
              <a:rPr lang="en" sz="2000" dirty="0"/>
              <a:t>    Set ROOT = NEW.</a:t>
            </a:r>
            <a:br>
              <a:rPr lang="en" sz="2000" dirty="0"/>
            </a:br>
            <a:r>
              <a:rPr lang="en" sz="2000" dirty="0"/>
              <a:t>Else if ITEM &lt; INFO[PAR], then:</a:t>
            </a:r>
            <a:br>
              <a:rPr lang="en" sz="2000" dirty="0"/>
            </a:br>
            <a:r>
              <a:rPr lang="en" sz="2000" dirty="0"/>
              <a:t>    Set LEFT[PAR] = NEW.</a:t>
            </a:r>
            <a:br>
              <a:rPr lang="en" sz="2000" dirty="0"/>
            </a:br>
            <a:r>
              <a:rPr lang="en" sz="2000" dirty="0"/>
              <a:t>Else: Set RIGHT [PAR] = NEW.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0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Exit.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Insertion in BST...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990600" y="762000"/>
            <a:ext cx="7848600" cy="521677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lvl="0" indent="0">
              <a:buSzPct val="98958"/>
              <a:buNone/>
            </a:pPr>
            <a:r>
              <a:rPr lang="en" sz="2000" dirty="0"/>
              <a:t>        FIND (INFO, LEFT, RIGHT, ROOT, ITEM, LOC, PAR)</a:t>
            </a:r>
          </a:p>
          <a:p>
            <a:pPr marL="457200" lvl="0" indent="-457200">
              <a:buSzPct val="98958"/>
              <a:buAutoNum type="arabicPeriod"/>
            </a:pPr>
            <a:r>
              <a:rPr lang="en" sz="2000" dirty="0">
                <a:solidFill>
                  <a:srgbClr val="FFFFFF"/>
                </a:solidFill>
              </a:rPr>
              <a:t>If ROOT = NULL, then:</a:t>
            </a:r>
            <a:br>
              <a:rPr lang="en" sz="2000" dirty="0">
                <a:solidFill>
                  <a:srgbClr val="FFFFFF"/>
                </a:solidFill>
              </a:rPr>
            </a:br>
            <a:r>
              <a:rPr lang="en" sz="2000" dirty="0">
                <a:solidFill>
                  <a:srgbClr val="FFFFFF"/>
                </a:solidFill>
              </a:rPr>
              <a:t>	Set PAR = NULL and LOC = NULL and Return.</a:t>
            </a:r>
          </a:p>
          <a:p>
            <a:pPr marL="457200" lvl="0" indent="-457200">
              <a:buSzPct val="98958"/>
              <a:buAutoNum type="arabicPeriod"/>
            </a:pPr>
            <a:r>
              <a:rPr lang="en" sz="2000" dirty="0">
                <a:solidFill>
                  <a:srgbClr val="FFFFFF"/>
                </a:solidFill>
              </a:rPr>
              <a:t>Set PTR = ROOT and SAVE = NULL.</a:t>
            </a:r>
          </a:p>
          <a:p>
            <a:pPr marL="457200" lvl="0" indent="-457200">
              <a:buSzPct val="98958"/>
              <a:buAutoNum type="arabicPeriod"/>
            </a:pPr>
            <a:r>
              <a:rPr lang="en" sz="2000" dirty="0">
                <a:solidFill>
                  <a:srgbClr val="FFFFFF"/>
                </a:solidFill>
              </a:rPr>
              <a:t>Repeate while PTR!= NULL</a:t>
            </a:r>
          </a:p>
          <a:p>
            <a:pPr marL="457200" lvl="0" indent="-457200">
              <a:buSzPct val="98958"/>
              <a:buAutoNum type="arabicPeriod"/>
            </a:pPr>
            <a:r>
              <a:rPr lang="en" sz="2000" dirty="0">
                <a:solidFill>
                  <a:srgbClr val="FFFFFF"/>
                </a:solidFill>
              </a:rPr>
              <a:t>      If ITEM = INFO[PTR], then</a:t>
            </a:r>
            <a:br>
              <a:rPr lang="en" sz="2000" dirty="0">
                <a:solidFill>
                  <a:srgbClr val="FFFFFF"/>
                </a:solidFill>
              </a:rPr>
            </a:br>
            <a:r>
              <a:rPr lang="en" sz="2000" dirty="0">
                <a:solidFill>
                  <a:srgbClr val="FFFFFF"/>
                </a:solidFill>
              </a:rPr>
              <a:t>	   Set PAR = SAVE and LOC = PTR and Return.</a:t>
            </a:r>
          </a:p>
          <a:p>
            <a:pPr marL="457200" lvl="0" indent="-457200">
              <a:buSzPct val="98958"/>
              <a:buNone/>
            </a:pPr>
            <a:r>
              <a:rPr lang="en" sz="2000" dirty="0">
                <a:solidFill>
                  <a:srgbClr val="FFFFFF"/>
                </a:solidFill>
              </a:rPr>
              <a:t>		else if ITEM &lt; INFO [PTR], then:</a:t>
            </a:r>
          </a:p>
          <a:p>
            <a:pPr marL="457200" lvl="0" indent="-457200">
              <a:buSzPct val="98958"/>
              <a:buNone/>
            </a:pPr>
            <a:r>
              <a:rPr lang="en" sz="2000" dirty="0">
                <a:solidFill>
                  <a:srgbClr val="FFFFFF"/>
                </a:solidFill>
              </a:rPr>
              <a:t>		   Set SAVE = PTR and PTR = LEFT [PTR]. </a:t>
            </a:r>
            <a:r>
              <a:rPr lang="en" sz="1600" dirty="0">
                <a:solidFill>
                  <a:srgbClr val="FFFFFF"/>
                </a:solidFill>
              </a:rPr>
              <a:t> </a:t>
            </a:r>
          </a:p>
          <a:p>
            <a:pPr marL="457200" lvl="0" indent="-457200">
              <a:buSzPct val="98958"/>
              <a:buNone/>
            </a:pPr>
            <a:r>
              <a:rPr lang="en" sz="1600" dirty="0">
                <a:solidFill>
                  <a:srgbClr val="FFFFFF"/>
                </a:solidFill>
              </a:rPr>
              <a:t>	</a:t>
            </a:r>
            <a:r>
              <a:rPr lang="en" sz="2000" dirty="0">
                <a:solidFill>
                  <a:srgbClr val="FFFFFF"/>
                </a:solidFill>
              </a:rPr>
              <a:t>       else </a:t>
            </a:r>
            <a:br>
              <a:rPr lang="en" sz="2000" dirty="0">
                <a:solidFill>
                  <a:srgbClr val="FFFFFF"/>
                </a:solidFill>
              </a:rPr>
            </a:br>
            <a:r>
              <a:rPr lang="en" sz="2000" dirty="0">
                <a:solidFill>
                  <a:srgbClr val="FFFFFF"/>
                </a:solidFill>
              </a:rPr>
              <a:t>           Set SAVE = PTR and PTR = RIGHT [PTR]. </a:t>
            </a:r>
            <a:br>
              <a:rPr lang="en" sz="2000" dirty="0">
                <a:solidFill>
                  <a:srgbClr val="FFFFFF"/>
                </a:solidFill>
              </a:rPr>
            </a:br>
            <a:r>
              <a:rPr lang="en" sz="2000" dirty="0">
                <a:solidFill>
                  <a:srgbClr val="FFFFFF"/>
                </a:solidFill>
              </a:rPr>
              <a:t>[End of Loop]</a:t>
            </a:r>
          </a:p>
          <a:p>
            <a:pPr marL="457200" lvl="0" indent="-457200">
              <a:buSzPct val="98958"/>
              <a:buNone/>
            </a:pPr>
            <a:r>
              <a:rPr lang="en" sz="2000" dirty="0">
                <a:solidFill>
                  <a:srgbClr val="FFFFFF"/>
                </a:solidFill>
              </a:rPr>
              <a:t>6. [Search Unsuccessful] </a:t>
            </a:r>
          </a:p>
          <a:p>
            <a:pPr marL="457200" lvl="0" indent="-457200">
              <a:buSzPct val="98958"/>
              <a:buNone/>
            </a:pPr>
            <a:r>
              <a:rPr lang="en" sz="2000" dirty="0">
                <a:solidFill>
                  <a:srgbClr val="FFFFFF"/>
                </a:solidFill>
              </a:rPr>
              <a:t>	 If PTR= NULL, then Return PAR= SAVE and LOC = NULL.</a:t>
            </a:r>
            <a:br>
              <a:rPr lang="en" sz="800" dirty="0"/>
            </a:br>
            <a:endParaRPr lang="en" sz="800" dirty="0"/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23900" y="259011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Exercise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7848600" cy="269300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lvl="0" indent="0">
              <a:buSzPct val="98958"/>
              <a:buNone/>
            </a:pPr>
            <a:r>
              <a:rPr lang="en" sz="2400" dirty="0"/>
              <a:t>Create a Binary Search Tree from the following elements:</a:t>
            </a:r>
          </a:p>
          <a:p>
            <a:pPr lvl="0" indent="0">
              <a:buSzPct val="98958"/>
              <a:buNone/>
            </a:pPr>
            <a:endParaRPr lang="en" sz="2400" dirty="0"/>
          </a:p>
          <a:p>
            <a:pPr marL="457200" lvl="0" indent="-457200">
              <a:buSzPct val="98958"/>
              <a:buAutoNum type="alphaUcPeriod"/>
            </a:pPr>
            <a:r>
              <a:rPr lang="en" sz="2400" dirty="0"/>
              <a:t>40, 15, 25, 50, 30, 20, 35</a:t>
            </a:r>
          </a:p>
          <a:p>
            <a:pPr marL="457200" lvl="0" indent="-457200">
              <a:buSzPct val="98958"/>
              <a:buAutoNum type="alphaUcPeriod"/>
            </a:pPr>
            <a:endParaRPr lang="en" sz="2400" dirty="0"/>
          </a:p>
          <a:p>
            <a:pPr marL="457200" lvl="0" indent="-457200">
              <a:buSzPct val="98958"/>
              <a:buAutoNum type="alphaUcPeriod"/>
            </a:pPr>
            <a:r>
              <a:rPr lang="en" sz="2400" dirty="0"/>
              <a:t>G, S, E, A, K, J, C</a:t>
            </a:r>
          </a:p>
          <a:p>
            <a:pPr lvl="0" indent="0">
              <a:buSzPct val="98958"/>
              <a:buNone/>
            </a:pPr>
            <a:endParaRPr lang="en" sz="2400" dirty="0"/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  <p:extLst>
      <p:ext uri="{BB962C8B-B14F-4D97-AF65-F5344CB8AC3E}">
        <p14:creationId xmlns:p14="http://schemas.microsoft.com/office/powerpoint/2010/main" val="2006844648"/>
      </p:ext>
    </p:extLst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Deletion in BST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914400" y="990600"/>
            <a:ext cx="7924800" cy="477049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400" dirty="0"/>
              <a:t>Find the location of node N which contains the ITEM.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000" b="1" dirty="0">
                <a:solidFill>
                  <a:srgbClr val="FFFF53"/>
                </a:solidFill>
              </a:rPr>
              <a:t>CASE 1: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000" dirty="0"/>
              <a:t> N has no children. Then N is deleted from T by simply replacing the location of N in the parent node P(N) by Null Pointer.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2000"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000" b="1" dirty="0">
                <a:solidFill>
                  <a:srgbClr val="FFFF53"/>
                </a:solidFill>
              </a:rPr>
              <a:t>CASE 2: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000" dirty="0"/>
              <a:t>N has exactly one child. Then N is deleted from T by simply replacing the location of N in P(N) by the location of the only child of N.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20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000" b="1" dirty="0">
                <a:solidFill>
                  <a:srgbClr val="FFFF53"/>
                </a:solidFill>
              </a:rPr>
              <a:t>CASE 3: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0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has two children. Let S(N) denote the inorder successor of N. Then N is deleted from T by first deleting</a:t>
            </a:r>
            <a:r>
              <a:rPr lang="en" sz="20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S(N) from T and then replacing node N in T by the node S(N).</a:t>
            </a:r>
            <a:endParaRPr lang="en" sz="20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Deletion in BST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534400" cy="489360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lvl="0" indent="0">
              <a:buSzPct val="98958"/>
              <a:buNone/>
            </a:pPr>
            <a:r>
              <a:rPr lang="en" sz="2400" b="1" dirty="0">
                <a:solidFill>
                  <a:srgbClr val="FFFF53"/>
                </a:solidFill>
              </a:rPr>
              <a:t>DELETE_BST ( INFO, LEFT, RIGHT, ROOT, AVAIL, ITEM)</a:t>
            </a:r>
          </a:p>
          <a:p>
            <a:pPr lvl="0" indent="0">
              <a:buSzPct val="98958"/>
              <a:buNone/>
            </a:pPr>
            <a:endParaRPr lang="en" sz="2400" b="1" dirty="0">
              <a:solidFill>
                <a:srgbClr val="FFFF53"/>
              </a:solidFill>
            </a:endParaRPr>
          </a:p>
          <a:p>
            <a:pPr marL="457200" lvl="0" indent="-457200">
              <a:buSzPct val="98958"/>
              <a:buAutoNum type="arabicPeriod"/>
            </a:pPr>
            <a:r>
              <a:rPr lang="en" sz="2200" dirty="0">
                <a:solidFill>
                  <a:srgbClr val="CCFFCC"/>
                </a:solidFill>
              </a:rPr>
              <a:t>Call FIND (INFO, LEFT, RIGHT, ROOT, ITEM, LOC, PAR)</a:t>
            </a:r>
          </a:p>
          <a:p>
            <a:pPr marL="457200" lvl="0" indent="-457200">
              <a:buSzPct val="98958"/>
              <a:buAutoNum type="arabicPeriod"/>
            </a:pPr>
            <a:r>
              <a:rPr lang="en" sz="2200" dirty="0">
                <a:solidFill>
                  <a:srgbClr val="CCFFCC"/>
                </a:solidFill>
              </a:rPr>
              <a:t>If LOC = NULL, then: Write “ITEM not in Tree” and Exit.</a:t>
            </a:r>
          </a:p>
          <a:p>
            <a:pPr marL="457200" indent="-457200">
              <a:buSzPct val="98958"/>
              <a:buFont typeface="Arial"/>
              <a:buAutoNum type="arabicPeriod"/>
            </a:pPr>
            <a:r>
              <a:rPr lang="en" sz="2200" dirty="0">
                <a:solidFill>
                  <a:srgbClr val="CCFFCC"/>
                </a:solidFill>
              </a:rPr>
              <a:t>If RIGHT[LOC] != NULL and LEFT [LOC] != NULL, then:</a:t>
            </a:r>
            <a:br>
              <a:rPr lang="en" sz="2200" dirty="0">
                <a:solidFill>
                  <a:srgbClr val="CCFFCC"/>
                </a:solidFill>
              </a:rPr>
            </a:br>
            <a:r>
              <a:rPr lang="en" sz="2200" dirty="0">
                <a:solidFill>
                  <a:srgbClr val="CCFFCC"/>
                </a:solidFill>
              </a:rPr>
              <a:t>       Call </a:t>
            </a:r>
            <a:r>
              <a:rPr lang="en" sz="2000" dirty="0">
                <a:solidFill>
                  <a:srgbClr val="CCFFCC"/>
                </a:solidFill>
              </a:rPr>
              <a:t>DELETE_B (INFO, LEFT, RIGHT, ROOT, LOC, PAR)</a:t>
            </a:r>
          </a:p>
          <a:p>
            <a:pPr marL="457200" lvl="0" indent="-457200">
              <a:buSzPct val="98958"/>
              <a:buNone/>
            </a:pPr>
            <a:r>
              <a:rPr lang="en" sz="2200" dirty="0">
                <a:solidFill>
                  <a:srgbClr val="CCFFCC"/>
                </a:solidFill>
              </a:rPr>
              <a:t>	Else:</a:t>
            </a:r>
            <a:br>
              <a:rPr lang="en" sz="2200" dirty="0">
                <a:solidFill>
                  <a:srgbClr val="CCFFCC"/>
                </a:solidFill>
              </a:rPr>
            </a:br>
            <a:r>
              <a:rPr lang="en" sz="2200" dirty="0">
                <a:solidFill>
                  <a:srgbClr val="CCFFCC"/>
                </a:solidFill>
              </a:rPr>
              <a:t>	Call DELETE_A (</a:t>
            </a:r>
            <a:r>
              <a:rPr lang="en" sz="2400" dirty="0">
                <a:solidFill>
                  <a:srgbClr val="CCFFCC"/>
                </a:solidFill>
              </a:rPr>
              <a:t>INFO, LEFT, RIGHT, ROOT, LOC, PAR)</a:t>
            </a:r>
            <a:r>
              <a:rPr lang="en" sz="2200" dirty="0">
                <a:solidFill>
                  <a:srgbClr val="CCFFCC"/>
                </a:solidFill>
              </a:rPr>
              <a:t>)</a:t>
            </a:r>
          </a:p>
          <a:p>
            <a:pPr marL="457200" lvl="0" indent="-457200">
              <a:buSzPct val="98958"/>
              <a:buNone/>
            </a:pPr>
            <a:r>
              <a:rPr lang="en" sz="2200" dirty="0">
                <a:solidFill>
                  <a:srgbClr val="CCFFCC"/>
                </a:solidFill>
              </a:rPr>
              <a:t>4. Set LEFT[LOC] = AVAIL and AVAIL = LOC.</a:t>
            </a:r>
          </a:p>
          <a:p>
            <a:pPr marL="457200" lvl="0" indent="-457200">
              <a:buSzPct val="98958"/>
              <a:buNone/>
            </a:pPr>
            <a:r>
              <a:rPr lang="en" sz="2200" dirty="0">
                <a:solidFill>
                  <a:srgbClr val="CCFFCC"/>
                </a:solidFill>
              </a:rPr>
              <a:t>5. Exit.</a:t>
            </a:r>
          </a:p>
          <a:p>
            <a:pPr lvl="0" indent="0">
              <a:buSzPct val="98958"/>
              <a:buNone/>
            </a:pPr>
            <a:endParaRPr lang="en" sz="2200" b="1" dirty="0">
              <a:solidFill>
                <a:srgbClr val="FFFF53"/>
              </a:solidFill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Deletion in BST (1)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914400" y="990600"/>
            <a:ext cx="7924800" cy="529371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400" b="1" dirty="0">
                <a:solidFill>
                  <a:srgbClr val="FFFF53"/>
                </a:solidFill>
              </a:rPr>
              <a:t>DELETE_A( INFO, LEFT, RIGHT, ROOT, LOC, PAR)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200" dirty="0">
                <a:solidFill>
                  <a:schemeClr val="tx1"/>
                </a:solidFill>
              </a:rPr>
              <a:t>1. If LEFT[LOC] = NULL, and RIGHT[LOC] = NULL, then:</a:t>
            </a:r>
            <a:br>
              <a:rPr lang="en" sz="2200" dirty="0">
                <a:solidFill>
                  <a:schemeClr val="tx1"/>
                </a:solidFill>
              </a:rPr>
            </a:br>
            <a:r>
              <a:rPr lang="en" sz="2200" dirty="0">
                <a:solidFill>
                  <a:schemeClr val="tx1"/>
                </a:solidFill>
              </a:rPr>
              <a:t>        Set CHILD = NULL.</a:t>
            </a:r>
            <a:br>
              <a:rPr lang="en" sz="2200" dirty="0">
                <a:solidFill>
                  <a:schemeClr val="tx1"/>
                </a:solidFill>
              </a:rPr>
            </a:br>
            <a:r>
              <a:rPr lang="en" sz="2200" dirty="0">
                <a:solidFill>
                  <a:schemeClr val="tx1"/>
                </a:solidFill>
              </a:rPr>
              <a:t>    Else if LEFT[LOC] != NULL, then:</a:t>
            </a:r>
            <a:br>
              <a:rPr lang="en" sz="2200" dirty="0">
                <a:solidFill>
                  <a:schemeClr val="tx1"/>
                </a:solidFill>
              </a:rPr>
            </a:br>
            <a:r>
              <a:rPr lang="en" sz="2200" dirty="0">
                <a:solidFill>
                  <a:schemeClr val="tx1"/>
                </a:solidFill>
              </a:rPr>
              <a:t>        Set CHILD = LEFT [LOC].</a:t>
            </a:r>
            <a:br>
              <a:rPr lang="en" sz="2200" dirty="0">
                <a:solidFill>
                  <a:schemeClr val="tx1"/>
                </a:solidFill>
              </a:rPr>
            </a:br>
            <a:r>
              <a:rPr lang="en" sz="2200" dirty="0">
                <a:solidFill>
                  <a:schemeClr val="tx1"/>
                </a:solidFill>
              </a:rPr>
              <a:t>    Else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200" dirty="0">
                <a:solidFill>
                  <a:schemeClr val="tx1"/>
                </a:solidFill>
              </a:rPr>
              <a:t>        Set CHILD = RIGHT [LOC]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200" dirty="0">
                <a:solidFill>
                  <a:schemeClr val="tx1"/>
                </a:solidFill>
              </a:rPr>
              <a:t>2. If PAR != NULL, then:</a:t>
            </a:r>
            <a:br>
              <a:rPr lang="en" sz="2200" dirty="0">
                <a:solidFill>
                  <a:schemeClr val="tx1"/>
                </a:solidFill>
              </a:rPr>
            </a:br>
            <a:r>
              <a:rPr lang="en" sz="2200" dirty="0">
                <a:solidFill>
                  <a:schemeClr val="tx1"/>
                </a:solidFill>
              </a:rPr>
              <a:t>                    If LOC = LEFT[PAR], then:</a:t>
            </a:r>
            <a:br>
              <a:rPr lang="en" sz="2200" dirty="0">
                <a:solidFill>
                  <a:schemeClr val="tx1"/>
                </a:solidFill>
              </a:rPr>
            </a:br>
            <a:r>
              <a:rPr lang="en" sz="2200" dirty="0">
                <a:solidFill>
                  <a:schemeClr val="tx1"/>
                </a:solidFill>
              </a:rPr>
              <a:t>               	Set LEFT[PAR] = CHILD.</a:t>
            </a:r>
            <a:br>
              <a:rPr lang="en" sz="2200" dirty="0">
                <a:solidFill>
                  <a:schemeClr val="tx1"/>
                </a:solidFill>
              </a:rPr>
            </a:br>
            <a:r>
              <a:rPr lang="en" sz="2200" dirty="0">
                <a:solidFill>
                  <a:schemeClr val="tx1"/>
                </a:solidFill>
              </a:rPr>
              <a:t>                    Else: Set RIGHT[PAR] = CHILD.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200" dirty="0">
                <a:solidFill>
                  <a:schemeClr val="tx1"/>
                </a:solidFill>
              </a:rPr>
              <a:t>    Else: Set ROOT = CHILD.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200" dirty="0">
                <a:solidFill>
                  <a:schemeClr val="tx1"/>
                </a:solidFill>
              </a:rPr>
              <a:t>3. Return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000" dirty="0"/>
              <a:t> </a:t>
            </a:r>
            <a:endParaRPr lang="en" sz="20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Deletion in BST(2)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1219200" y="762000"/>
            <a:ext cx="7924800" cy="569382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lvl="0" indent="0">
              <a:buSzPct val="98958"/>
              <a:buNone/>
            </a:pPr>
            <a:r>
              <a:rPr lang="en" sz="2400" b="1" dirty="0">
                <a:solidFill>
                  <a:srgbClr val="FFFF53"/>
                </a:solidFill>
              </a:rPr>
              <a:t>DELETE_B( INFO, LEFT, RIGHT, ROOT, LOC, PAR)</a:t>
            </a:r>
          </a:p>
          <a:p>
            <a:pPr marL="457200" lvl="0" indent="-457200">
              <a:buSzPct val="98958"/>
              <a:buAutoNum type="arabicPeriod"/>
            </a:pPr>
            <a:r>
              <a:rPr lang="en" sz="2000" dirty="0">
                <a:solidFill>
                  <a:schemeClr val="tx1"/>
                </a:solidFill>
              </a:rPr>
              <a:t>[Find SUC and PARSUC]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	(a) Set PTR = RIGHT[LOC] and SAVE = LOC.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	(b) Repeat while LEFT[PTR] != NULL: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	         Set SAVE = PTR and PTR = LEFT [PTR]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	(c) Set SUC = PTR and PARSUC = SAVE.</a:t>
            </a:r>
          </a:p>
          <a:p>
            <a:pPr marL="457200" indent="-457200">
              <a:buSzPct val="98958"/>
              <a:buFont typeface="Arial"/>
              <a:buAutoNum type="arabicPeriod"/>
            </a:pPr>
            <a:r>
              <a:rPr lang="en" sz="2000" dirty="0">
                <a:solidFill>
                  <a:schemeClr val="tx1"/>
                </a:solidFill>
              </a:rPr>
              <a:t>[Delete Inorder Successor]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Call DELETE_A (INFO, LEFT, RIGHT, ROOT, SUC</a:t>
            </a:r>
            <a:r>
              <a:rPr lang="en" sz="2000">
                <a:solidFill>
                  <a:schemeClr val="tx1"/>
                </a:solidFill>
              </a:rPr>
              <a:t>, PARSUC)</a:t>
            </a:r>
            <a:endParaRPr lang="en" sz="2000" dirty="0">
              <a:solidFill>
                <a:schemeClr val="tx1"/>
              </a:solidFill>
            </a:endParaRPr>
          </a:p>
          <a:p>
            <a:pPr marL="457200" indent="-457200">
              <a:buSzPct val="98958"/>
              <a:buFont typeface="Arial"/>
              <a:buAutoNum type="arabicPeriod"/>
            </a:pPr>
            <a:r>
              <a:rPr lang="en" sz="2000" dirty="0">
                <a:solidFill>
                  <a:schemeClr val="tx1"/>
                </a:solidFill>
              </a:rPr>
              <a:t>[Replace node N by its inorder successor.]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	(a) If PAR != NULL, then: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	         If LOC = LEFT[PAR], then: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		    Set LEFT[PAR] = SUC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	         Else: Set RIGHT [PAR] = SUC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           Else: Set ROOT = SUC.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	(b) Set LEFT[SUC] = LEFT[LOC] and</a:t>
            </a:r>
            <a:br>
              <a:rPr lang="en" sz="2000" dirty="0">
                <a:solidFill>
                  <a:schemeClr val="tx1"/>
                </a:solidFill>
              </a:rPr>
            </a:br>
            <a:r>
              <a:rPr lang="en" sz="2000" dirty="0">
                <a:solidFill>
                  <a:schemeClr val="tx1"/>
                </a:solidFill>
              </a:rPr>
              <a:t>                  RIGHT[SUC] = RIGHT[LOC].</a:t>
            </a:r>
          </a:p>
          <a:p>
            <a:pPr marL="457200" indent="-457200">
              <a:buSzPct val="98958"/>
              <a:buFont typeface="Arial"/>
              <a:buAutoNum type="arabicPeriod"/>
            </a:pPr>
            <a:r>
              <a:rPr lang="en" sz="2000" dirty="0">
                <a:solidFill>
                  <a:schemeClr val="tx1"/>
                </a:solidFill>
              </a:rPr>
              <a:t>Return 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23900" y="259011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Exercise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7848600" cy="387794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lvl="0" indent="0">
              <a:buSzPct val="98958"/>
              <a:buNone/>
            </a:pPr>
            <a:r>
              <a:rPr lang="en" sz="2400" dirty="0"/>
              <a:t>Given that a Binary Search Tree is represented using Sequential Representation as shown below:</a:t>
            </a:r>
          </a:p>
          <a:p>
            <a:pPr lvl="0" indent="0">
              <a:buSzPct val="98958"/>
              <a:buNone/>
            </a:pPr>
            <a:endParaRPr lang="en" sz="2400" dirty="0"/>
          </a:p>
          <a:p>
            <a:pPr lvl="0" indent="0">
              <a:buSzPct val="98958"/>
              <a:buNone/>
            </a:pPr>
            <a:r>
              <a:rPr lang="en" sz="2400" dirty="0"/>
              <a:t>TREE = {L, D, P, B, G, M, _, _, C, F}</a:t>
            </a:r>
          </a:p>
          <a:p>
            <a:pPr lvl="0" indent="0">
              <a:buSzPct val="98958"/>
              <a:buNone/>
            </a:pPr>
            <a:endParaRPr lang="en" sz="2400" dirty="0"/>
          </a:p>
          <a:p>
            <a:pPr lvl="0" indent="0">
              <a:buSzPct val="98958"/>
              <a:buNone/>
            </a:pPr>
            <a:r>
              <a:rPr lang="en" sz="2400" dirty="0"/>
              <a:t>Which of the following Key must substitute D, when Deletion of D is performed?</a:t>
            </a:r>
          </a:p>
          <a:p>
            <a:pPr lvl="0" indent="0">
              <a:buSzPct val="98958"/>
              <a:buNone/>
            </a:pPr>
            <a:endParaRPr lang="en" sz="2400" dirty="0"/>
          </a:p>
          <a:p>
            <a:pPr lvl="0" indent="0">
              <a:buSzPct val="98958"/>
              <a:buNone/>
            </a:pPr>
            <a:r>
              <a:rPr lang="en" sz="2400" dirty="0">
                <a:solidFill>
                  <a:srgbClr val="FFFF00"/>
                </a:solidFill>
              </a:rPr>
              <a:t>A. G        B. F          C. B          D. Either G or F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  <p:extLst>
      <p:ext uri="{BB962C8B-B14F-4D97-AF65-F5344CB8AC3E}">
        <p14:creationId xmlns:p14="http://schemas.microsoft.com/office/powerpoint/2010/main" val="2654923058"/>
      </p:ext>
    </p:extLst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5029200"/>
            <a:ext cx="5181600" cy="914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CFFCC"/>
                </a:solidFill>
              </a:rPr>
              <a:t> Questions</a:t>
            </a:r>
          </a:p>
        </p:txBody>
      </p:sp>
      <p:pic>
        <p:nvPicPr>
          <p:cNvPr id="4" name="Content Placeholder 3" descr="faq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0" y="1143000"/>
            <a:ext cx="4038600" cy="3962400"/>
          </a:xfrm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772400" cy="61551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lvl="0">
              <a:buClr>
                <a:schemeClr val="dk2"/>
              </a:buClr>
              <a:buSzPct val="25000"/>
            </a:pPr>
            <a:r>
              <a:rPr lang="en" sz="3400" dirty="0">
                <a:solidFill>
                  <a:srgbClr val="99FF66"/>
                </a:solidFill>
              </a:rPr>
              <a:t>Review Questions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533400" y="1295400"/>
            <a:ext cx="8458200" cy="246217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2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8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maximum size of array required to represent a tree with height h, using sequential representation?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28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800" dirty="0">
                <a:solidFill>
                  <a:srgbClr val="FFFFFF"/>
                </a:solidFill>
              </a:rPr>
              <a:t> Sequential representation of tree is more efficient than linked. When?</a:t>
            </a:r>
            <a:endParaRPr lang="en" sz="28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theme/theme1.xml><?xml version="1.0" encoding="utf-8"?>
<a:theme xmlns:a="http://schemas.openxmlformats.org/drawingml/2006/main">
  <a:themeElements>
    <a:clrScheme name="리본.pot 1">
      <a:dk1>
        <a:srgbClr val="FFFFCC"/>
      </a:dk1>
      <a:lt1>
        <a:srgbClr val="660033"/>
      </a:lt1>
      <a:dk2>
        <a:srgbClr val="FFCC00"/>
      </a:dk2>
      <a:lt2>
        <a:srgbClr val="220011"/>
      </a:lt2>
      <a:accent1>
        <a:srgbClr val="CC0099"/>
      </a:accent1>
      <a:accent2>
        <a:srgbClr val="56002B"/>
      </a:accent2>
      <a:accent3>
        <a:srgbClr val="660033"/>
      </a:accent3>
      <a:accent4>
        <a:srgbClr val="CC0099"/>
      </a:accent4>
      <a:accent5>
        <a:srgbClr val="56002B"/>
      </a:accent5>
      <a:accent6>
        <a:srgbClr val="660033"/>
      </a:accent6>
      <a:hlink>
        <a:srgbClr val="9C004E"/>
      </a:hlink>
      <a:folHlink>
        <a:srgbClr val="FF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2000</Words>
  <Application>Microsoft Office PowerPoint</Application>
  <PresentationFormat>On-screen Show (4:3)</PresentationFormat>
  <Paragraphs>271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/>
      <vt:lpstr>Data Structures  Topic: Binary Search Tree </vt:lpstr>
      <vt:lpstr>Contents</vt:lpstr>
      <vt:lpstr>Binary Search Tree</vt:lpstr>
      <vt:lpstr>Binary Search Tree</vt:lpstr>
      <vt:lpstr>Exercise</vt:lpstr>
      <vt:lpstr>Searching in BST</vt:lpstr>
      <vt:lpstr>Insertion in BST</vt:lpstr>
      <vt:lpstr>Insertion in BST...</vt:lpstr>
      <vt:lpstr>Exercise</vt:lpstr>
      <vt:lpstr>Deletion in BST</vt:lpstr>
      <vt:lpstr>Deletion in BST</vt:lpstr>
      <vt:lpstr>Deletion in BST (1)</vt:lpstr>
      <vt:lpstr>Deletion in BST(2)</vt:lpstr>
      <vt:lpstr>Exercise</vt:lpstr>
      <vt:lpstr> Questions</vt:lpstr>
      <vt:lpstr>Review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History of Java</dc:title>
  <dc:creator>RA-V</dc:creator>
  <cp:lastModifiedBy>Ravi Kant Sahu</cp:lastModifiedBy>
  <cp:revision>83</cp:revision>
  <dcterms:modified xsi:type="dcterms:W3CDTF">2021-11-01T08:23:52Z</dcterms:modified>
</cp:coreProperties>
</file>